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Uses</c:v>
                </c:pt>
              </c:strCache>
            </c:strRef>
          </c:tx>
          <c:spPr>
            <a:solidFill>
              <a:schemeClr val="accent1"/>
            </a:solidFill>
            <a:ln w="9525" cap="flat">
              <a:solidFill>
                <a:srgbClr val="F9F9F9"/>
              </a:solidFill>
              <a:prstDash val="solid"/>
              <a:round/>
            </a:ln>
            <a:effectLst/>
          </c:spPr>
          <c:dPt>
            <c:idx val="0"/>
            <c:bubble3D val="0"/>
            <c:spPr>
              <a:solidFill>
                <a:srgbClr val="2B1B14"/>
              </a:solidFill>
              <a:effectLst/>
            </c:spPr>
          </c:dPt>
          <c:dPt>
            <c:idx val="1"/>
            <c:bubble3D val="0"/>
            <c:spPr>
              <a:solidFill>
                <a:srgbClr val="C8873A"/>
              </a:solidFill>
              <a:effectLst/>
            </c:spPr>
          </c:dPt>
          <c:dPt>
            <c:idx val="2"/>
            <c:bubble3D val="0"/>
            <c:spPr>
              <a:solidFill>
                <a:srgbClr val="D9C3AE"/>
              </a:solidFill>
              <a:effectLst/>
            </c:spPr>
          </c:dPt>
          <c:dLbls>
            <c:dLbl>
              <c:idx val="0"/>
              <c:numFmt formatCode="0.00"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0.00"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2"/>
              <c:numFmt formatCode="0.00"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0.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Fixed assets &amp; set-up</c:v>
                </c:pt>
                <c:pt idx="1">
                  <c:v>Opening cash buffer</c:v>
                </c:pt>
                <c:pt idx="2">
                  <c:v>Security deposit</c:v>
                </c:pt>
              </c:strCache>
            </c:strRef>
          </c:cat>
          <c:val>
            <c:numRef>
              <c:f>Sheet1!$B$2:$B$4</c:f>
              <c:numCache>
                <c:ptCount val="3"/>
                <c:pt idx="0">
                  <c:v>20.79</c:v>
                </c:pt>
                <c:pt idx="1">
                  <c:v>6.48</c:v>
                </c:pt>
                <c:pt idx="2">
                  <c:v>2.03</c:v>
                </c:pt>
              </c:numCache>
            </c:numRef>
          </c:val>
        </c:ser>
        <c:firstSliceAng val="0"/>
        <c:holeSize val="55"/>
      </c:doughnutChart>
      <c:spPr>
        <a:noFill/>
        <a:ln>
          <a:noFill/>
        </a:ln>
        <a:effectLst/>
      </c:spPr>
    </c:plotArea>
    <c:legend>
      <c:legendPos val="b"/>
      <c:overlay val="0"/>
      <c:txPr>
        <a:bodyPr/>
        <a:lstStyle/>
        <a:p>
          <a:pPr>
            <a:defRPr sz="1100">
              <a:solidFill>
                <a:srgbClr val="1F1A1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25C"/>
                </a:solidFill>
                <a:latin typeface="Calibri"/>
              </a:defRPr>
            </a:pPr>
            <a:r>
              <a:rPr sz="1200" b="0" i="0" u="none" strike="noStrike">
                <a:solidFill>
                  <a:srgbClr val="6B625C"/>
                </a:solidFill>
                <a:latin typeface="Calibri"/>
              </a:rPr>
              <a:t>₹ lakh</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2B1B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39.6</c:v>
                </c:pt>
                <c:pt idx="1">
                  <c:v>49.9</c:v>
                </c:pt>
                <c:pt idx="2">
                  <c:v>61.12</c:v>
                </c:pt>
                <c:pt idx="3">
                  <c:v>69.68</c:v>
                </c:pt>
                <c:pt idx="4">
                  <c:v>77.01</c:v>
                </c:pt>
              </c:numCache>
            </c:numRef>
          </c:val>
        </c:ser>
        <c:ser>
          <c:idx val="1"/>
          <c:order val="1"/>
          <c:tx>
            <c:strRef>
              <c:f>Sheet1!$C$1</c:f>
              <c:strCache>
                <c:ptCount val="1"/>
                <c:pt idx="0">
                  <c:v>EBITDA</c:v>
                </c:pt>
              </c:strCache>
            </c:strRef>
          </c:tx>
          <c:spPr>
            <a:solidFill>
              <a:srgbClr val="C887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0.72</c:v>
                </c:pt>
                <c:pt idx="1">
                  <c:v>5.81</c:v>
                </c:pt>
                <c:pt idx="2">
                  <c:v>11.42</c:v>
                </c:pt>
                <c:pt idx="3">
                  <c:v>15.28</c:v>
                </c:pt>
                <c:pt idx="4">
                  <c:v>18.3</c:v>
                </c:pt>
              </c:numCache>
            </c:numRef>
          </c:val>
        </c:ser>
        <c:ser>
          <c:idx val="2"/>
          <c:order val="2"/>
          <c:tx>
            <c:strRef>
              <c:f>Sheet1!$D$1</c:f>
              <c:strCache>
                <c:ptCount val="1"/>
                <c:pt idx="0">
                  <c:v>Net profit</c:v>
                </c:pt>
              </c:strCache>
            </c:strRef>
          </c:tx>
          <c:spPr>
            <a:solidFill>
              <a:srgbClr val="8FA9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Sheet1!$D$2:$D$6</c:f>
              <c:numCache>
                <c:formatCode>General</c:formatCode>
                <c:ptCount val="5"/>
                <c:pt idx="0">
                  <c:v>-4.08</c:v>
                </c:pt>
                <c:pt idx="1">
                  <c:v>0.98</c:v>
                </c:pt>
                <c:pt idx="2">
                  <c:v>5.39</c:v>
                </c:pt>
                <c:pt idx="3">
                  <c:v>8.5</c:v>
                </c:pt>
                <c:pt idx="4">
                  <c:v>11.13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2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BD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1B14"/>
                </a:solidFill>
                <a:latin typeface="Calibri"/>
              </a:defRPr>
            </a:pPr>
            <a:r>
              <a:rPr sz="1200" b="0" i="0" u="none" strike="noStrike">
                <a:solidFill>
                  <a:srgbClr val="2B1B14"/>
                </a:solidFill>
                <a:latin typeface="Calibri"/>
              </a:rPr>
              <a:t>Cumulative project FCF (₹ lakh)</a:t>
            </a:r>
          </a:p>
        </c:rich>
      </c:tx>
      <c:layout/>
      <c:overlay val="0"/>
    </c:title>
    <c:autoTitleDeleted val="0"/>
    <c:plotArea>
      <c:layout/>
      <c:lineChart>
        <c:varyColors val="0"/>
        <c:ser>
          <c:idx val="0"/>
          <c:order val="0"/>
          <c:tx>
            <c:strRef>
              <c:f>Sheet1!$B$1</c:f>
              <c:strCache>
                <c:ptCount val="1"/>
                <c:pt idx="0">
                  <c:v>Cumulative FCF</c:v>
                </c:pt>
              </c:strCache>
            </c:strRef>
          </c:tx>
          <c:spPr>
            <a:solidFill>
              <a:srgbClr val="C8873A"/>
            </a:solidFill>
            <a:ln w="38100" cap="flat">
              <a:solidFill>
                <a:srgbClr val="C8873A"/>
              </a:solidFill>
              <a:prstDash val="solid"/>
              <a:round/>
            </a:ln>
            <a:effectLst/>
          </c:spPr>
          <c:invertIfNegative val="0"/>
          <c:dLbls>
            <c:numFmt formatCode="0.0" sourceLinked="0"/>
            <c:txPr>
              <a:bodyPr/>
              <a:lstStyle/>
              <a:p>
                <a:pPr>
                  <a:defRPr b="0" i="0" strike="noStrike" sz="900" u="none">
                    <a:solidFill>
                      <a:srgbClr val="1F1A17"/>
                    </a:solidFill>
                    <a:latin typeface="Arial"/>
                  </a:defRPr>
                </a:pPr>
              </a:p>
            </c:txPr>
            <c:dLblPos val="t"/>
            <c:showLegendKey val="0"/>
            <c:showVal val="1"/>
            <c:showCatName val="0"/>
            <c:showSerName val="0"/>
            <c:showPercent val="0"/>
            <c:showBubbleSize val="0"/>
            <c:showLeaderLines val="0"/>
          </c:dLbls>
          <c:marker>
            <c:symbol val="circle"/>
            <c:size val="7"/>
            <c:spPr>
              <a:solidFill>
                <a:srgbClr val="C8873A"/>
              </a:solidFill>
              <a:ln w="9525" cap="flat">
                <a:solidFill>
                  <a:srgbClr val="C8873A"/>
                </a:solidFill>
                <a:prstDash val="solid"/>
                <a:round/>
              </a:ln>
              <a:effectLst/>
            </c:spPr>
          </c:marker>
          <c:cat>
            <c:multiLvlStrRef>
              <c:f>Sheet1!$A$2:$A$7</c:f>
              <c:multiLvlStrCache>
                <c:ptCount val="6"/>
                <c:lvl>
                  <c:pt idx="0">
                    <c:v>Y0</c:v>
                  </c:pt>
                  <c:pt idx="1">
                    <c:v>Y1</c:v>
                  </c:pt>
                  <c:pt idx="2">
                    <c:v>Y2</c:v>
                  </c:pt>
                  <c:pt idx="3">
                    <c:v>Y3</c:v>
                  </c:pt>
                  <c:pt idx="4">
                    <c:v>Y4</c:v>
                  </c:pt>
                  <c:pt idx="5">
                    <c:v>Y5</c:v>
                  </c:pt>
                </c:lvl>
              </c:multiLvlStrCache>
            </c:multiLvlStrRef>
          </c:cat>
          <c:val>
            <c:numRef>
              <c:f>Sheet1!$B$2:$B$7</c:f>
              <c:numCache>
                <c:formatCode>General</c:formatCode>
                <c:ptCount val="6"/>
                <c:pt idx="0">
                  <c:v>-29.3</c:v>
                </c:pt>
                <c:pt idx="1">
                  <c:v>-28.68</c:v>
                </c:pt>
                <c:pt idx="2">
                  <c:v>-23.51</c:v>
                </c:pt>
                <c:pt idx="3">
                  <c:v>-14.16</c:v>
                </c:pt>
                <c:pt idx="4">
                  <c:v>-1.91</c:v>
                </c:pt>
                <c:pt idx="5">
                  <c:v>22.14</c:v>
                </c:pt>
              </c:numCache>
            </c:numRef>
          </c:val>
          <c:smooth val="0"/>
        </c:ser>
        <c:dLbls>
          <c:numFmt formatCode="0.0" sourceLinked="0"/>
          <c:txPr>
            <a:bodyPr/>
            <a:lstStyle/>
            <a:p>
              <a:pPr>
                <a:defRPr b="0" i="0" strike="noStrike" sz="900" u="none">
                  <a:solidFill>
                    <a:srgbClr val="1F1A17"/>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2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BD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2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Projected customers/day</c:v>
                </c:pt>
              </c:strCache>
            </c:strRef>
          </c:tx>
          <c:spPr>
            <a:solidFill>
              <a:srgbClr val="D9C3A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75</c:v>
                </c:pt>
                <c:pt idx="1">
                  <c:v>90</c:v>
                </c:pt>
                <c:pt idx="2">
                  <c:v>105</c:v>
                </c:pt>
                <c:pt idx="3">
                  <c:v>114</c:v>
                </c:pt>
                <c:pt idx="4">
                  <c:v>120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Break-even customers/day</c:v>
                </c:pt>
              </c:strCache>
            </c:strRef>
          </c:tx>
          <c:spPr>
            <a:solidFill>
              <a:srgbClr val="B23A3A"/>
            </a:solidFill>
            <a:ln w="38100" cap="flat">
              <a:solidFill>
                <a:srgbClr val="B23A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23A3A"/>
              </a:solidFill>
              <a:ln w="9525" cap="flat">
                <a:solidFill>
                  <a:srgbClr val="B23A3A"/>
                </a:solidFill>
                <a:prstDash val="solid"/>
                <a:round/>
              </a:ln>
              <a:effectLst/>
            </c:spPr>
          </c:marker>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72.9</c:v>
                </c:pt>
                <c:pt idx="1">
                  <c:v>73.6</c:v>
                </c:pt>
                <c:pt idx="2">
                  <c:v>74.4</c:v>
                </c:pt>
                <c:pt idx="3">
                  <c:v>74.9</c:v>
                </c:pt>
                <c:pt idx="4">
                  <c:v>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25C"/>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DB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1B14"/>
                </a:solidFill>
                <a:latin typeface="Calibri"/>
              </a:defRPr>
            </a:pPr>
            <a:r>
              <a:rPr sz="1200" b="0" i="0" u="none" strike="noStrike">
                <a:solidFill>
                  <a:srgbClr val="2B1B14"/>
                </a:solidFill>
                <a:latin typeface="Calibri"/>
              </a:rPr>
              <a:t>NPV swing across ±20% (₹ lakh)</a:t>
            </a:r>
          </a:p>
        </c:rich>
      </c:tx>
      <c:layout/>
      <c:overlay val="0"/>
    </c:title>
    <c:autoTitleDeleted val="0"/>
    <c:plotArea>
      <c:layout/>
      <c:barChart>
        <c:barDir val="bar"/>
        <c:grouping val="clustered"/>
        <c:varyColors val="0"/>
        <c:ser>
          <c:idx val="0"/>
          <c:order val="0"/>
          <c:tx>
            <c:strRef>
              <c:f>Sheet1!$B$1</c:f>
              <c:strCache>
                <c:ptCount val="1"/>
                <c:pt idx="0">
                  <c:v>NPV swing</c:v>
                </c:pt>
              </c:strCache>
            </c:strRef>
          </c:tx>
          <c:spPr>
            <a:solidFill>
              <a:srgbClr val="2B1B14"/>
            </a:solidFill>
            <a:effectLst/>
          </c:spPr>
          <c:invertIfNegative val="0"/>
          <c:dLbls>
            <c:numFmt formatCode="0.0" sourceLinked="0"/>
            <c:txPr>
              <a:bodyPr/>
              <a:lstStyle/>
              <a:p>
                <a:pPr>
                  <a:defRPr b="0" i="0" strike="noStrike" sz="1000" u="none">
                    <a:solidFill>
                      <a:srgbClr val="1F1A17"/>
                    </a:solidFill>
                    <a:latin typeface="Arial"/>
                  </a:defRPr>
                </a:pPr>
              </a:p>
            </c:txPr>
            <c:showLegendKey val="0"/>
            <c:showVal val="1"/>
            <c:showCatName val="0"/>
            <c:showSerName val="0"/>
            <c:showPercent val="0"/>
            <c:showBubbleSize val="0"/>
            <c:showLeaderLines val="0"/>
          </c:dLbls>
          <c:cat>
            <c:multiLvlStrRef>
              <c:f>Sheet1!$A$2:$A$6</c:f>
              <c:multiLvlStrCache>
                <c:ptCount val="5"/>
                <c:lvl>
                  <c:pt idx="0">
                    <c:v>Discount rate</c:v>
                  </c:pt>
                  <c:pt idx="1">
                    <c:v>Variable cost</c:v>
                  </c:pt>
                  <c:pt idx="2">
                    <c:v>Fixed cost</c:v>
                  </c:pt>
                  <c:pt idx="3">
                    <c:v>Sales volume</c:v>
                  </c:pt>
                  <c:pt idx="4">
                    <c:v>Selling price</c:v>
                  </c:pt>
                </c:lvl>
              </c:multiLvlStrCache>
            </c:multiLvlStrRef>
          </c:cat>
          <c:val>
            <c:numRef>
              <c:f>Sheet1!$B$2:$B$6</c:f>
              <c:numCache>
                <c:formatCode>General</c:formatCode>
                <c:ptCount val="5"/>
                <c:pt idx="0">
                  <c:v>5.75</c:v>
                </c:pt>
                <c:pt idx="1">
                  <c:v>22.85</c:v>
                </c:pt>
                <c:pt idx="2">
                  <c:v>30.81</c:v>
                </c:pt>
                <c:pt idx="3">
                  <c:v>40.62</c:v>
                </c:pt>
                <c:pt idx="4">
                  <c:v>64.43</c:v>
                </c:pt>
              </c:numCache>
            </c:numRef>
          </c:val>
        </c:ser>
        <c:dLbls>
          <c:numFmt formatCode="0.0" sourceLinked="0"/>
          <c:txPr>
            <a:bodyPr/>
            <a:lstStyle/>
            <a:p>
              <a:pPr>
                <a:defRPr b="0" i="0" strike="noStrike" sz="1000" u="none">
                  <a:solidFill>
                    <a:srgbClr val="1F1A1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1A17"/>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Harleen Kaur, an M.Com student at Lovely Professional University. This is my investment pitch for Campus Brew Café, a 30-seat café near LPU.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LPU has more than 30,000 students on a single campus, and at peak hours there are not enough affordable places near the gate to sit, eat and meet. Our solution is Campus Brew Café: a 30-seat café serving beverages, snacks and meal combos at an average bill of 160 rupees, for students, staff and GT Road travellers. Our unit of economics is one paid customer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needs 29.30 lakh rupees at Year 0: 20.79 lakh for equipment, furniture, fit-out and set-up; a 2.03 lakh refundable rent deposit; and a 6.48 lakh opening cash buffer. It is funded 50:50, with a 14.65 lakh bank term loan at 10% over five years and 14.65 lakh of promoter equity. Funding equals investment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built from capacity, not guessed. 30 seats, turned 2.5 times a day in Year 1 rising to 4, over 330 days, at an average bill of 160 rupees that grows 5% a year. That gives 39.6 lakh of revenue in Year 1 and about 77 lakh in Year 5. On costs, food and packaging are variable at 36% of sales, while salaries, rent and overheads are fixed at about 24.6 lakh in Year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 is roughly break-even at EBITDA level, with a small net loss once interest and depreciation are charged. As customers grow while fixed costs rise slowly, EBITDA margin climbs from 1.8% to 23.8%, and net profit reaches 11.1 lakh by Year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project free cash flow, which excludes financing, and discounted at a WACC of 13.3%, the NPV is plus 2.03 lakh, the IRR is 15.3%, and payback is 4.1 years. So the café clears the hurdle, but only narrowly.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is tight at the start. In Year 1 we need 73 customers a day to cover fixed costs and we plan for 75, a margin of safety of only 2.8 percent. It widens quickly, to 18 percent in Year 2 and 37 percent by Year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is asymmetric. In the pessimistic case, with volume down 20 percent, price down 10 percent and costs up 10 percent, the NPV falls to minus 48.9 lakh. Sensitivity shows the biggest risk is selling price: an average bill just 1.2 percent below plan wipes out the NPV, followed by customer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recommendation is Invest with Conditions. The base case creates value and the café stays solvent, but the cushion is thin and the downside is deep, so we do not recommend an unconditional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proceed only after firm quotes for rent and capex, a confirmed 160 rupee average bill, and footfall evidence above 75 customers a day, with monthly monitoring after opening.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frame: hold for 2 to 3 seconds. Paste the same hashtags in the LinkedIn post caption: #LovelyProfessionalUniversity #MSOB #QD06FINANCE #DrBasit. Then submit the LinkedIn post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1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85800"/>
            <a:ext cx="548640" cy="548640"/>
          </a:xfrm>
          <a:prstGeom prst="rect">
            <a:avLst/>
          </a:prstGeom>
        </p:spPr>
      </p:pic>
      <p:sp>
        <p:nvSpPr>
          <p:cNvPr id="3" name="Text 0"/>
          <p:cNvSpPr txBox="1"/>
          <p:nvPr/>
        </p:nvSpPr>
        <p:spPr>
          <a:xfrm>
            <a:off x="1371600" y="731520"/>
            <a:ext cx="6400800" cy="457200"/>
          </a:xfrm>
          <a:prstGeom prst="rect">
            <a:avLst/>
          </a:prstGeom>
          <a:noFill/>
          <a:ln/>
        </p:spPr>
        <p:txBody>
          <a:bodyPr wrap="square" lIns="0" tIns="0" rIns="0" bIns="0" rtlCol="0" anchor="ctr"/>
          <a:lstStyle/>
          <a:p>
            <a:pPr indent="0" marL="0">
              <a:buNone/>
            </a:pPr>
            <a:r>
              <a:rPr lang="en-US" sz="1400" b="1" spc="300" kern="0" dirty="0">
                <a:solidFill>
                  <a:srgbClr val="C8873A"/>
                </a:solidFill>
                <a:latin typeface="Calibri" pitchFamily="34" charset="0"/>
                <a:ea typeface="Calibri" pitchFamily="34" charset="-122"/>
                <a:cs typeface="Calibri" pitchFamily="34" charset="-120"/>
              </a:rPr>
              <a:t>FIN 545 · LINKEDIN INVESTMENT PITCH</a:t>
            </a:r>
            <a:endParaRPr lang="en-US" sz="1400" dirty="0"/>
          </a:p>
        </p:txBody>
      </p:sp>
      <p:sp>
        <p:nvSpPr>
          <p:cNvPr id="4" name="Text 1"/>
          <p:cNvSpPr txBox="1"/>
          <p:nvPr/>
        </p:nvSpPr>
        <p:spPr>
          <a:xfrm>
            <a:off x="640080" y="1554480"/>
            <a:ext cx="694944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Campus Brew Café</a:t>
            </a:r>
            <a:endParaRPr lang="en-US" sz="5400" dirty="0"/>
          </a:p>
        </p:txBody>
      </p:sp>
      <p:sp>
        <p:nvSpPr>
          <p:cNvPr id="5" name="Text 2"/>
          <p:cNvSpPr txBox="1"/>
          <p:nvPr/>
        </p:nvSpPr>
        <p:spPr>
          <a:xfrm>
            <a:off x="640080" y="2606040"/>
            <a:ext cx="6766560" cy="822960"/>
          </a:xfrm>
          <a:prstGeom prst="rect">
            <a:avLst/>
          </a:prstGeom>
          <a:noFill/>
          <a:ln/>
        </p:spPr>
        <p:txBody>
          <a:bodyPr wrap="square" lIns="0" tIns="0" rIns="0" bIns="0" rtlCol="0" anchor="t"/>
          <a:lstStyle/>
          <a:p>
            <a:pPr indent="0" marL="0">
              <a:buNone/>
            </a:pPr>
            <a:r>
              <a:rPr lang="en-US" sz="2000" dirty="0">
                <a:solidFill>
                  <a:srgbClr val="E8DED5"/>
                </a:solidFill>
                <a:latin typeface="Calibri" pitchFamily="34" charset="0"/>
                <a:ea typeface="Calibri" pitchFamily="34" charset="-122"/>
                <a:cs typeface="Calibri" pitchFamily="34" charset="-120"/>
              </a:rPr>
              <a:t>Should we invest ₹29.30 lakh in a 30-seat café near LPU, Phagwara?</a:t>
            </a:r>
            <a:endParaRPr lang="en-US" sz="2000" dirty="0"/>
          </a:p>
        </p:txBody>
      </p:sp>
      <p:sp>
        <p:nvSpPr>
          <p:cNvPr id="6" name="Text 3"/>
          <p:cNvSpPr txBox="1"/>
          <p:nvPr/>
        </p:nvSpPr>
        <p:spPr>
          <a:xfrm>
            <a:off x="640080" y="3977640"/>
            <a:ext cx="6766560" cy="1828800"/>
          </a:xfrm>
          <a:prstGeom prst="rect">
            <a:avLst/>
          </a:prstGeom>
          <a:noFill/>
          <a:ln/>
        </p:spPr>
        <p:txBody>
          <a:bodyPr wrap="square" lIns="0" tIns="0" rIns="0" bIns="0" rtlCol="0" anchor="t"/>
          <a:lstStyle/>
          <a:p>
            <a:pPr indent="0" marL="0">
              <a:spcAft>
                <a:spcPts val="400"/>
              </a:spcAft>
              <a:buNone/>
            </a:pPr>
            <a:r>
              <a:rPr lang="en-US" sz="2200" b="1" dirty="0">
                <a:solidFill>
                  <a:srgbClr val="FFFFFF"/>
                </a:solidFill>
                <a:latin typeface="Calibri" pitchFamily="34" charset="0"/>
                <a:ea typeface="Calibri" pitchFamily="34" charset="-122"/>
                <a:cs typeface="Calibri" pitchFamily="34" charset="-120"/>
              </a:rPr>
              <a:t>By Harleen Kaur</a:t>
            </a:r>
            <a:endParaRPr lang="en-US" sz="2200" dirty="0"/>
          </a:p>
          <a:p>
            <a:pPr indent="0" marL="0">
              <a:spcAft>
                <a:spcPts val="400"/>
              </a:spcAft>
              <a:buNone/>
            </a:pPr>
            <a:r>
              <a:rPr lang="en-US" sz="1700" dirty="0">
                <a:solidFill>
                  <a:srgbClr val="E8DED5"/>
                </a:solidFill>
                <a:latin typeface="Calibri" pitchFamily="34" charset="0"/>
                <a:ea typeface="Calibri" pitchFamily="34" charset="-122"/>
                <a:cs typeface="Calibri" pitchFamily="34" charset="-120"/>
              </a:rPr>
              <a:t>M.Com · Reg. No. 123514334</a:t>
            </a:r>
            <a:endParaRPr lang="en-US" sz="2200" dirty="0"/>
          </a:p>
          <a:p>
            <a:pPr indent="0" marL="0">
              <a:spcAft>
                <a:spcPts val="400"/>
              </a:spcAft>
              <a:buNone/>
            </a:pPr>
            <a:r>
              <a:rPr lang="en-US" sz="1400" dirty="0">
                <a:solidFill>
                  <a:srgbClr val="BFAFA2"/>
                </a:solidFill>
                <a:latin typeface="Calibri" pitchFamily="34" charset="0"/>
                <a:ea typeface="Calibri" pitchFamily="34" charset="-122"/>
                <a:cs typeface="Calibri" pitchFamily="34" charset="-120"/>
              </a:rPr>
              <a:t>Lovely Professional University · Mittal School of Business</a:t>
            </a:r>
            <a:endParaRPr lang="en-US" sz="2200" dirty="0"/>
          </a:p>
          <a:p>
            <a:pPr indent="0" marL="0">
              <a:spcAft>
                <a:spcPts val="400"/>
              </a:spcAft>
              <a:buNone/>
            </a:pPr>
            <a:r>
              <a:rPr lang="en-US" sz="1400" dirty="0">
                <a:solidFill>
                  <a:srgbClr val="BFAFA2"/>
                </a:solidFill>
                <a:latin typeface="Calibri" pitchFamily="34" charset="0"/>
                <a:ea typeface="Calibri" pitchFamily="34" charset="-122"/>
                <a:cs typeface="Calibri" pitchFamily="34" charset="-120"/>
              </a:rPr>
              <a:t>Faculty: Dr Basit</a:t>
            </a:r>
            <a:endParaRPr lang="en-US" sz="2200" dirty="0"/>
          </a:p>
        </p:txBody>
      </p:sp>
      <p:sp>
        <p:nvSpPr>
          <p:cNvPr id="7" name="Shape 4"/>
          <p:cNvSpPr/>
          <p:nvPr/>
        </p:nvSpPr>
        <p:spPr>
          <a:xfrm>
            <a:off x="8001000" y="914400"/>
            <a:ext cx="3566160" cy="4937760"/>
          </a:xfrm>
          <a:prstGeom prst="roundRect">
            <a:avLst>
              <a:gd name="adj" fmla="val 3077"/>
            </a:avLst>
          </a:prstGeom>
          <a:solidFill>
            <a:srgbClr val="5A3825"/>
          </a:solidFill>
          <a:ln/>
        </p:spPr>
      </p:sp>
      <p:sp>
        <p:nvSpPr>
          <p:cNvPr id="8" name="Text 5"/>
          <p:cNvSpPr txBox="1"/>
          <p:nvPr/>
        </p:nvSpPr>
        <p:spPr>
          <a:xfrm>
            <a:off x="8321040" y="1188720"/>
            <a:ext cx="2926080" cy="320040"/>
          </a:xfrm>
          <a:prstGeom prst="rect">
            <a:avLst/>
          </a:prstGeom>
          <a:noFill/>
          <a:ln/>
        </p:spPr>
        <p:txBody>
          <a:bodyPr wrap="square" lIns="0" tIns="0" rIns="0" bIns="0" rtlCol="0" anchor="ctr"/>
          <a:lstStyle/>
          <a:p>
            <a:pPr indent="0" marL="0">
              <a:buNone/>
            </a:pPr>
            <a:r>
              <a:rPr lang="en-US" sz="1200" b="1" spc="300" kern="0" dirty="0">
                <a:solidFill>
                  <a:srgbClr val="C8873A"/>
                </a:solidFill>
                <a:latin typeface="Calibri" pitchFamily="34" charset="0"/>
                <a:ea typeface="Calibri" pitchFamily="34" charset="-122"/>
                <a:cs typeface="Calibri" pitchFamily="34" charset="-120"/>
              </a:rPr>
              <a:t>OUR VERDICT</a:t>
            </a:r>
            <a:endParaRPr lang="en-US" sz="1200" dirty="0"/>
          </a:p>
        </p:txBody>
      </p:sp>
      <p:sp>
        <p:nvSpPr>
          <p:cNvPr id="9" name="Text 6"/>
          <p:cNvSpPr txBox="1"/>
          <p:nvPr/>
        </p:nvSpPr>
        <p:spPr>
          <a:xfrm>
            <a:off x="8321040" y="1508760"/>
            <a:ext cx="3017520" cy="100584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Invest with Conditions</a:t>
            </a:r>
            <a:endParaRPr lang="en-US" sz="2600" dirty="0"/>
          </a:p>
        </p:txBody>
      </p:sp>
      <p:sp>
        <p:nvSpPr>
          <p:cNvPr id="10" name="Text 7"/>
          <p:cNvSpPr txBox="1"/>
          <p:nvPr/>
        </p:nvSpPr>
        <p:spPr>
          <a:xfrm>
            <a:off x="8321040" y="2743200"/>
            <a:ext cx="2926080" cy="502920"/>
          </a:xfrm>
          <a:prstGeom prst="rect">
            <a:avLst/>
          </a:prstGeom>
          <a:noFill/>
          <a:ln/>
        </p:spPr>
        <p:txBody>
          <a:bodyPr wrap="square" lIns="0" tIns="0" rIns="0" bIns="0" rtlCol="0" anchor="b"/>
          <a:lstStyle/>
          <a:p>
            <a:pPr indent="0" marL="0">
              <a:buNone/>
            </a:pPr>
            <a:r>
              <a:rPr lang="en-US" sz="2600" b="1" dirty="0">
                <a:solidFill>
                  <a:srgbClr val="C8873A"/>
                </a:solidFill>
                <a:latin typeface="Cambria" pitchFamily="34" charset="0"/>
                <a:ea typeface="Cambria" pitchFamily="34" charset="-122"/>
                <a:cs typeface="Cambria" pitchFamily="34" charset="-120"/>
              </a:rPr>
              <a:t>₹2.03 lakh</a:t>
            </a:r>
            <a:endParaRPr lang="en-US" sz="2600" dirty="0"/>
          </a:p>
        </p:txBody>
      </p:sp>
      <p:sp>
        <p:nvSpPr>
          <p:cNvPr id="11" name="Text 8"/>
          <p:cNvSpPr txBox="1"/>
          <p:nvPr/>
        </p:nvSpPr>
        <p:spPr>
          <a:xfrm>
            <a:off x="8321040" y="3246120"/>
            <a:ext cx="2926080" cy="320040"/>
          </a:xfrm>
          <a:prstGeom prst="rect">
            <a:avLst/>
          </a:prstGeom>
          <a:noFill/>
          <a:ln/>
        </p:spPr>
        <p:txBody>
          <a:bodyPr wrap="square" lIns="0" tIns="0" rIns="0" bIns="0" rtlCol="0" anchor="ctr"/>
          <a:lstStyle/>
          <a:p>
            <a:pPr indent="0" marL="0">
              <a:buNone/>
            </a:pPr>
            <a:r>
              <a:rPr lang="en-US" sz="1300" dirty="0">
                <a:solidFill>
                  <a:srgbClr val="E8DED5"/>
                </a:solidFill>
                <a:latin typeface="Calibri" pitchFamily="34" charset="0"/>
                <a:ea typeface="Calibri" pitchFamily="34" charset="-122"/>
                <a:cs typeface="Calibri" pitchFamily="34" charset="-120"/>
              </a:rPr>
              <a:t>NPV at 13.3% WACC</a:t>
            </a:r>
            <a:endParaRPr lang="en-US" sz="1300" dirty="0"/>
          </a:p>
        </p:txBody>
      </p:sp>
      <p:sp>
        <p:nvSpPr>
          <p:cNvPr id="12" name="Text 9"/>
          <p:cNvSpPr txBox="1"/>
          <p:nvPr/>
        </p:nvSpPr>
        <p:spPr>
          <a:xfrm>
            <a:off x="8321040" y="3730752"/>
            <a:ext cx="2926080" cy="502920"/>
          </a:xfrm>
          <a:prstGeom prst="rect">
            <a:avLst/>
          </a:prstGeom>
          <a:noFill/>
          <a:ln/>
        </p:spPr>
        <p:txBody>
          <a:bodyPr wrap="square" lIns="0" tIns="0" rIns="0" bIns="0" rtlCol="0" anchor="b"/>
          <a:lstStyle/>
          <a:p>
            <a:pPr indent="0" marL="0">
              <a:buNone/>
            </a:pPr>
            <a:r>
              <a:rPr lang="en-US" sz="2600" b="1" dirty="0">
                <a:solidFill>
                  <a:srgbClr val="C8873A"/>
                </a:solidFill>
                <a:latin typeface="Cambria" pitchFamily="34" charset="0"/>
                <a:ea typeface="Cambria" pitchFamily="34" charset="-122"/>
                <a:cs typeface="Cambria" pitchFamily="34" charset="-120"/>
              </a:rPr>
              <a:t>15.3%</a:t>
            </a:r>
            <a:endParaRPr lang="en-US" sz="2600" dirty="0"/>
          </a:p>
        </p:txBody>
      </p:sp>
      <p:sp>
        <p:nvSpPr>
          <p:cNvPr id="13" name="Text 10"/>
          <p:cNvSpPr txBox="1"/>
          <p:nvPr/>
        </p:nvSpPr>
        <p:spPr>
          <a:xfrm>
            <a:off x="8321040" y="4233672"/>
            <a:ext cx="2926080" cy="320040"/>
          </a:xfrm>
          <a:prstGeom prst="rect">
            <a:avLst/>
          </a:prstGeom>
          <a:noFill/>
          <a:ln/>
        </p:spPr>
        <p:txBody>
          <a:bodyPr wrap="square" lIns="0" tIns="0" rIns="0" bIns="0" rtlCol="0" anchor="ctr"/>
          <a:lstStyle/>
          <a:p>
            <a:pPr indent="0" marL="0">
              <a:buNone/>
            </a:pPr>
            <a:r>
              <a:rPr lang="en-US" sz="1300" dirty="0">
                <a:solidFill>
                  <a:srgbClr val="E8DED5"/>
                </a:solidFill>
                <a:latin typeface="Calibri" pitchFamily="34" charset="0"/>
                <a:ea typeface="Calibri" pitchFamily="34" charset="-122"/>
                <a:cs typeface="Calibri" pitchFamily="34" charset="-120"/>
              </a:rPr>
              <a:t>Project IRR</a:t>
            </a:r>
            <a:endParaRPr lang="en-US" sz="1300" dirty="0"/>
          </a:p>
        </p:txBody>
      </p:sp>
      <p:sp>
        <p:nvSpPr>
          <p:cNvPr id="14" name="Text 11"/>
          <p:cNvSpPr txBox="1"/>
          <p:nvPr/>
        </p:nvSpPr>
        <p:spPr>
          <a:xfrm>
            <a:off x="8321040" y="4718304"/>
            <a:ext cx="2926080" cy="502920"/>
          </a:xfrm>
          <a:prstGeom prst="rect">
            <a:avLst/>
          </a:prstGeom>
          <a:noFill/>
          <a:ln/>
        </p:spPr>
        <p:txBody>
          <a:bodyPr wrap="square" lIns="0" tIns="0" rIns="0" bIns="0" rtlCol="0" anchor="b"/>
          <a:lstStyle/>
          <a:p>
            <a:pPr indent="0" marL="0">
              <a:buNone/>
            </a:pPr>
            <a:r>
              <a:rPr lang="en-US" sz="2600" b="1" dirty="0">
                <a:solidFill>
                  <a:srgbClr val="C8873A"/>
                </a:solidFill>
                <a:latin typeface="Cambria" pitchFamily="34" charset="0"/>
                <a:ea typeface="Cambria" pitchFamily="34" charset="-122"/>
                <a:cs typeface="Cambria" pitchFamily="34" charset="-120"/>
              </a:rPr>
              <a:t>4.1 years</a:t>
            </a:r>
            <a:endParaRPr lang="en-US" sz="2600" dirty="0"/>
          </a:p>
        </p:txBody>
      </p:sp>
      <p:sp>
        <p:nvSpPr>
          <p:cNvPr id="15" name="Text 12"/>
          <p:cNvSpPr txBox="1"/>
          <p:nvPr/>
        </p:nvSpPr>
        <p:spPr>
          <a:xfrm>
            <a:off x="8321040" y="5221224"/>
            <a:ext cx="2926080" cy="320040"/>
          </a:xfrm>
          <a:prstGeom prst="rect">
            <a:avLst/>
          </a:prstGeom>
          <a:noFill/>
          <a:ln/>
        </p:spPr>
        <p:txBody>
          <a:bodyPr wrap="square" lIns="0" tIns="0" rIns="0" bIns="0" rtlCol="0" anchor="ctr"/>
          <a:lstStyle/>
          <a:p>
            <a:pPr indent="0" marL="0">
              <a:buNone/>
            </a:pPr>
            <a:r>
              <a:rPr lang="en-US" sz="1300" dirty="0">
                <a:solidFill>
                  <a:srgbClr val="E8DED5"/>
                </a:solidFill>
                <a:latin typeface="Calibri" pitchFamily="34" charset="0"/>
                <a:ea typeface="Calibri" pitchFamily="34" charset="-122"/>
                <a:cs typeface="Calibri" pitchFamily="34" charset="-120"/>
              </a:rPr>
              <a:t>Payback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The problem, the customer and the solution</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A large, concentrated campus market that is short of affordable places to sit, eat and meet</a:t>
            </a:r>
            <a:endParaRPr lang="en-US" sz="1500" dirty="0"/>
          </a:p>
        </p:txBody>
      </p:sp>
      <p:sp>
        <p:nvSpPr>
          <p:cNvPr id="4" name="Shape 2"/>
          <p:cNvSpPr/>
          <p:nvPr/>
        </p:nvSpPr>
        <p:spPr>
          <a:xfrm>
            <a:off x="457200" y="1691640"/>
            <a:ext cx="3566160" cy="2926080"/>
          </a:xfrm>
          <a:prstGeom prst="roundRect">
            <a:avLst>
              <a:gd name="adj" fmla="val 3125"/>
            </a:avLst>
          </a:prstGeom>
          <a:solidFill>
            <a:srgbClr val="F4EFEA"/>
          </a:solidFill>
          <a:ln/>
        </p:spPr>
      </p:sp>
      <p:sp>
        <p:nvSpPr>
          <p:cNvPr id="5" name="Shape 3"/>
          <p:cNvSpPr/>
          <p:nvPr/>
        </p:nvSpPr>
        <p:spPr>
          <a:xfrm>
            <a:off x="731520" y="1965960"/>
            <a:ext cx="731520" cy="731520"/>
          </a:xfrm>
          <a:prstGeom prst="ellipse">
            <a:avLst/>
          </a:prstGeom>
          <a:solidFill>
            <a:srgbClr val="2B1B14"/>
          </a:solidFill>
          <a:ln/>
        </p:spPr>
      </p:sp>
      <p:pic>
        <p:nvPicPr>
          <p:cNvPr id="6" name="Image 0" descr="preencoded.png">    </p:cNvPr>
          <p:cNvPicPr>
            <a:picLocks noChangeAspect="1"/>
          </p:cNvPicPr>
          <p:nvPr/>
        </p:nvPicPr>
        <p:blipFill>
          <a:blip r:embed="rId1"/>
          <a:stretch>
            <a:fillRect/>
          </a:stretch>
        </p:blipFill>
        <p:spPr>
          <a:xfrm>
            <a:off x="914400" y="2148840"/>
            <a:ext cx="365760" cy="365760"/>
          </a:xfrm>
          <a:prstGeom prst="rect">
            <a:avLst/>
          </a:prstGeom>
        </p:spPr>
      </p:pic>
      <p:sp>
        <p:nvSpPr>
          <p:cNvPr id="7" name="Text 4"/>
          <p:cNvSpPr txBox="1"/>
          <p:nvPr/>
        </p:nvSpPr>
        <p:spPr>
          <a:xfrm>
            <a:off x="1645920" y="1965960"/>
            <a:ext cx="2194560" cy="731520"/>
          </a:xfrm>
          <a:prstGeom prst="rect">
            <a:avLst/>
          </a:prstGeom>
          <a:noFill/>
          <a:ln/>
        </p:spPr>
        <p:txBody>
          <a:bodyPr wrap="square" lIns="0" tIns="0" rIns="0" bIns="0" rtlCol="0" anchor="ctr"/>
          <a:lstStyle/>
          <a:p>
            <a:pPr indent="0" marL="0">
              <a:buNone/>
            </a:pPr>
            <a:r>
              <a:rPr lang="en-US" sz="2200" b="1" dirty="0">
                <a:solidFill>
                  <a:srgbClr val="2B1B14"/>
                </a:solidFill>
                <a:latin typeface="Cambria" pitchFamily="34" charset="0"/>
                <a:ea typeface="Cambria" pitchFamily="34" charset="-122"/>
                <a:cs typeface="Cambria" pitchFamily="34" charset="-120"/>
              </a:rPr>
              <a:t>Problem</a:t>
            </a:r>
            <a:endParaRPr lang="en-US" sz="2200" dirty="0"/>
          </a:p>
        </p:txBody>
      </p:sp>
      <p:sp>
        <p:nvSpPr>
          <p:cNvPr id="8" name="Text 5"/>
          <p:cNvSpPr txBox="1"/>
          <p:nvPr/>
        </p:nvSpPr>
        <p:spPr>
          <a:xfrm>
            <a:off x="731520" y="2880360"/>
            <a:ext cx="3063240" cy="1645920"/>
          </a:xfrm>
          <a:prstGeom prst="rect">
            <a:avLst/>
          </a:prstGeom>
          <a:noFill/>
          <a:ln/>
        </p:spPr>
        <p:txBody>
          <a:bodyPr wrap="square" lIns="0" tIns="0" rIns="0" bIns="0" rtlCol="0" anchor="t"/>
          <a:lstStyle/>
          <a:p>
            <a:pPr indent="0" marL="0">
              <a:buNone/>
            </a:pPr>
            <a:r>
              <a:rPr lang="en-US" sz="1700" dirty="0">
                <a:solidFill>
                  <a:srgbClr val="1F1A17"/>
                </a:solidFill>
                <a:latin typeface="Calibri" pitchFamily="34" charset="0"/>
                <a:ea typeface="Calibri" pitchFamily="34" charset="-122"/>
                <a:cs typeface="Calibri" pitchFamily="34" charset="-120"/>
              </a:rPr>
              <a:t>At peak hours, seating near the LPU gate is limited. Students want an affordable, comfortable place to eat, meet and study between classes.</a:t>
            </a:r>
            <a:endParaRPr lang="en-US" sz="1700" dirty="0"/>
          </a:p>
        </p:txBody>
      </p:sp>
      <p:sp>
        <p:nvSpPr>
          <p:cNvPr id="9" name="Shape 6"/>
          <p:cNvSpPr/>
          <p:nvPr/>
        </p:nvSpPr>
        <p:spPr>
          <a:xfrm>
            <a:off x="4279392" y="1691640"/>
            <a:ext cx="3566160" cy="2926080"/>
          </a:xfrm>
          <a:prstGeom prst="roundRect">
            <a:avLst>
              <a:gd name="adj" fmla="val 3125"/>
            </a:avLst>
          </a:prstGeom>
          <a:solidFill>
            <a:srgbClr val="F4EFEA"/>
          </a:solidFill>
          <a:ln/>
        </p:spPr>
      </p:sp>
      <p:sp>
        <p:nvSpPr>
          <p:cNvPr id="10" name="Shape 7"/>
          <p:cNvSpPr/>
          <p:nvPr/>
        </p:nvSpPr>
        <p:spPr>
          <a:xfrm>
            <a:off x="4553712" y="1965960"/>
            <a:ext cx="731520" cy="731520"/>
          </a:xfrm>
          <a:prstGeom prst="ellipse">
            <a:avLst/>
          </a:prstGeom>
          <a:solidFill>
            <a:srgbClr val="2B1B14"/>
          </a:solidFill>
          <a:ln/>
        </p:spPr>
      </p:sp>
      <p:pic>
        <p:nvPicPr>
          <p:cNvPr id="11" name="Image 1" descr="preencoded.png">    </p:cNvPr>
          <p:cNvPicPr>
            <a:picLocks noChangeAspect="1"/>
          </p:cNvPicPr>
          <p:nvPr/>
        </p:nvPicPr>
        <p:blipFill>
          <a:blip r:embed="rId2"/>
          <a:stretch>
            <a:fillRect/>
          </a:stretch>
        </p:blipFill>
        <p:spPr>
          <a:xfrm>
            <a:off x="4736592" y="2148840"/>
            <a:ext cx="365760" cy="365760"/>
          </a:xfrm>
          <a:prstGeom prst="rect">
            <a:avLst/>
          </a:prstGeom>
        </p:spPr>
      </p:pic>
      <p:sp>
        <p:nvSpPr>
          <p:cNvPr id="12" name="Text 8"/>
          <p:cNvSpPr txBox="1"/>
          <p:nvPr/>
        </p:nvSpPr>
        <p:spPr>
          <a:xfrm>
            <a:off x="5468112" y="1965960"/>
            <a:ext cx="2194560" cy="731520"/>
          </a:xfrm>
          <a:prstGeom prst="rect">
            <a:avLst/>
          </a:prstGeom>
          <a:noFill/>
          <a:ln/>
        </p:spPr>
        <p:txBody>
          <a:bodyPr wrap="square" lIns="0" tIns="0" rIns="0" bIns="0" rtlCol="0" anchor="ctr"/>
          <a:lstStyle/>
          <a:p>
            <a:pPr indent="0" marL="0">
              <a:buNone/>
            </a:pPr>
            <a:r>
              <a:rPr lang="en-US" sz="2200" b="1" dirty="0">
                <a:solidFill>
                  <a:srgbClr val="2B1B14"/>
                </a:solidFill>
                <a:latin typeface="Cambria" pitchFamily="34" charset="0"/>
                <a:ea typeface="Cambria" pitchFamily="34" charset="-122"/>
                <a:cs typeface="Cambria" pitchFamily="34" charset="-120"/>
              </a:rPr>
              <a:t>Customer</a:t>
            </a:r>
            <a:endParaRPr lang="en-US" sz="2200" dirty="0"/>
          </a:p>
        </p:txBody>
      </p:sp>
      <p:sp>
        <p:nvSpPr>
          <p:cNvPr id="13" name="Text 9"/>
          <p:cNvSpPr txBox="1"/>
          <p:nvPr/>
        </p:nvSpPr>
        <p:spPr>
          <a:xfrm>
            <a:off x="4553712" y="2880360"/>
            <a:ext cx="3063240" cy="1645920"/>
          </a:xfrm>
          <a:prstGeom prst="rect">
            <a:avLst/>
          </a:prstGeom>
          <a:noFill/>
          <a:ln/>
        </p:spPr>
        <p:txBody>
          <a:bodyPr wrap="square" lIns="0" tIns="0" rIns="0" bIns="0" rtlCol="0" anchor="t"/>
          <a:lstStyle/>
          <a:p>
            <a:pPr indent="0" marL="0">
              <a:buNone/>
            </a:pPr>
            <a:r>
              <a:rPr lang="en-US" sz="1700" dirty="0">
                <a:solidFill>
                  <a:srgbClr val="1F1A17"/>
                </a:solidFill>
                <a:latin typeface="Calibri" pitchFamily="34" charset="0"/>
                <a:ea typeface="Calibri" pitchFamily="34" charset="-122"/>
                <a:cs typeface="Calibri" pitchFamily="34" charset="-120"/>
              </a:rPr>
              <a:t>LPU students, faculty and staff (30,000+ students on one campus), plus travellers on the GT Road (NH-44) corridor.</a:t>
            </a:r>
            <a:endParaRPr lang="en-US" sz="1700" dirty="0"/>
          </a:p>
        </p:txBody>
      </p:sp>
      <p:sp>
        <p:nvSpPr>
          <p:cNvPr id="14" name="Shape 10"/>
          <p:cNvSpPr/>
          <p:nvPr/>
        </p:nvSpPr>
        <p:spPr>
          <a:xfrm>
            <a:off x="8101584" y="1691640"/>
            <a:ext cx="3566160" cy="2926080"/>
          </a:xfrm>
          <a:prstGeom prst="roundRect">
            <a:avLst>
              <a:gd name="adj" fmla="val 3125"/>
            </a:avLst>
          </a:prstGeom>
          <a:solidFill>
            <a:srgbClr val="F4EFEA"/>
          </a:solidFill>
          <a:ln/>
        </p:spPr>
      </p:sp>
      <p:sp>
        <p:nvSpPr>
          <p:cNvPr id="15" name="Shape 11"/>
          <p:cNvSpPr/>
          <p:nvPr/>
        </p:nvSpPr>
        <p:spPr>
          <a:xfrm>
            <a:off x="8375904" y="1965960"/>
            <a:ext cx="731520" cy="731520"/>
          </a:xfrm>
          <a:prstGeom prst="ellipse">
            <a:avLst/>
          </a:prstGeom>
          <a:solidFill>
            <a:srgbClr val="2B1B14"/>
          </a:solidFill>
          <a:ln/>
        </p:spPr>
      </p:sp>
      <p:pic>
        <p:nvPicPr>
          <p:cNvPr id="16" name="Image 2" descr="preencoded.png">    </p:cNvPr>
          <p:cNvPicPr>
            <a:picLocks noChangeAspect="1"/>
          </p:cNvPicPr>
          <p:nvPr/>
        </p:nvPicPr>
        <p:blipFill>
          <a:blip r:embed="rId3"/>
          <a:stretch>
            <a:fillRect/>
          </a:stretch>
        </p:blipFill>
        <p:spPr>
          <a:xfrm>
            <a:off x="8558784" y="2148840"/>
            <a:ext cx="365760" cy="365760"/>
          </a:xfrm>
          <a:prstGeom prst="rect">
            <a:avLst/>
          </a:prstGeom>
        </p:spPr>
      </p:pic>
      <p:sp>
        <p:nvSpPr>
          <p:cNvPr id="17" name="Text 12"/>
          <p:cNvSpPr txBox="1"/>
          <p:nvPr/>
        </p:nvSpPr>
        <p:spPr>
          <a:xfrm>
            <a:off x="9290304" y="1965960"/>
            <a:ext cx="2194560" cy="731520"/>
          </a:xfrm>
          <a:prstGeom prst="rect">
            <a:avLst/>
          </a:prstGeom>
          <a:noFill/>
          <a:ln/>
        </p:spPr>
        <p:txBody>
          <a:bodyPr wrap="square" lIns="0" tIns="0" rIns="0" bIns="0" rtlCol="0" anchor="ctr"/>
          <a:lstStyle/>
          <a:p>
            <a:pPr indent="0" marL="0">
              <a:buNone/>
            </a:pPr>
            <a:r>
              <a:rPr lang="en-US" sz="2200" b="1" dirty="0">
                <a:solidFill>
                  <a:srgbClr val="2B1B14"/>
                </a:solidFill>
                <a:latin typeface="Cambria" pitchFamily="34" charset="0"/>
                <a:ea typeface="Cambria" pitchFamily="34" charset="-122"/>
                <a:cs typeface="Cambria" pitchFamily="34" charset="-120"/>
              </a:rPr>
              <a:t>Solution</a:t>
            </a:r>
            <a:endParaRPr lang="en-US" sz="2200" dirty="0"/>
          </a:p>
        </p:txBody>
      </p:sp>
      <p:sp>
        <p:nvSpPr>
          <p:cNvPr id="18" name="Text 13"/>
          <p:cNvSpPr txBox="1"/>
          <p:nvPr/>
        </p:nvSpPr>
        <p:spPr>
          <a:xfrm>
            <a:off x="8375904" y="2880360"/>
            <a:ext cx="3063240" cy="1645920"/>
          </a:xfrm>
          <a:prstGeom prst="rect">
            <a:avLst/>
          </a:prstGeom>
          <a:noFill/>
          <a:ln/>
        </p:spPr>
        <p:txBody>
          <a:bodyPr wrap="square" lIns="0" tIns="0" rIns="0" bIns="0" rtlCol="0" anchor="t"/>
          <a:lstStyle/>
          <a:p>
            <a:pPr indent="0" marL="0">
              <a:buNone/>
            </a:pPr>
            <a:r>
              <a:rPr lang="en-US" sz="1700" dirty="0">
                <a:solidFill>
                  <a:srgbClr val="1F1A17"/>
                </a:solidFill>
                <a:latin typeface="Calibri" pitchFamily="34" charset="0"/>
                <a:ea typeface="Calibri" pitchFamily="34" charset="-122"/>
                <a:cs typeface="Calibri" pitchFamily="34" charset="-120"/>
              </a:rPr>
              <a:t>A 750 sq ft, 30-seat café with beverages, snacks and meal combos at student prices: average bill ₹160 before GST, run by five staff.</a:t>
            </a:r>
            <a:endParaRPr lang="en-US" sz="1700" dirty="0"/>
          </a:p>
        </p:txBody>
      </p:sp>
      <p:sp>
        <p:nvSpPr>
          <p:cNvPr id="19" name="Shape 14"/>
          <p:cNvSpPr/>
          <p:nvPr/>
        </p:nvSpPr>
        <p:spPr>
          <a:xfrm>
            <a:off x="457200" y="4892040"/>
            <a:ext cx="11274552" cy="1234440"/>
          </a:xfrm>
          <a:prstGeom prst="roundRect">
            <a:avLst>
              <a:gd name="adj" fmla="val 7407"/>
            </a:avLst>
          </a:prstGeom>
          <a:solidFill>
            <a:srgbClr val="2B1B14"/>
          </a:solidFill>
          <a:ln/>
        </p:spPr>
      </p:sp>
      <p:sp>
        <p:nvSpPr>
          <p:cNvPr id="20" name="Text 15"/>
          <p:cNvSpPr txBox="1"/>
          <p:nvPr/>
        </p:nvSpPr>
        <p:spPr>
          <a:xfrm>
            <a:off x="731520" y="4983480"/>
            <a:ext cx="10789920" cy="1051560"/>
          </a:xfrm>
          <a:prstGeom prst="rect">
            <a:avLst/>
          </a:prstGeom>
          <a:noFill/>
          <a:ln/>
        </p:spPr>
        <p:txBody>
          <a:bodyPr wrap="square" lIns="0" tIns="0" rIns="0" bIns="0" rtlCol="0" anchor="ctr"/>
          <a:lstStyle/>
          <a:p>
            <a:pPr indent="0" marL="0">
              <a:spcAft>
                <a:spcPts val="600"/>
              </a:spcAft>
              <a:buNone/>
            </a:pPr>
            <a:r>
              <a:rPr lang="en-US" sz="1500" b="1" dirty="0">
                <a:solidFill>
                  <a:srgbClr val="C8873A"/>
                </a:solidFill>
                <a:latin typeface="Calibri" pitchFamily="34" charset="0"/>
                <a:ea typeface="Calibri" pitchFamily="34" charset="-122"/>
                <a:cs typeface="Calibri" pitchFamily="34" charset="-120"/>
              </a:rPr>
              <a:t>Business model in one sentence:  </a:t>
            </a:r>
            <a:pPr indent="0" marL="0">
              <a:spcAft>
                <a:spcPts val="600"/>
              </a:spcAft>
              <a:buNone/>
            </a:pPr>
            <a:r>
              <a:rPr lang="en-US" sz="1500" dirty="0">
                <a:solidFill>
                  <a:srgbClr val="FFFFFF"/>
                </a:solidFill>
                <a:latin typeface="Calibri" pitchFamily="34" charset="0"/>
                <a:ea typeface="Calibri" pitchFamily="34" charset="-122"/>
                <a:cs typeface="Calibri" pitchFamily="34" charset="-120"/>
              </a:rPr>
              <a:t>the project invests about ₹29.3 lakh to provide food and beverages to students and staff in the LPU catchment, earning revenue through per-customer bills.</a:t>
            </a:r>
            <a:endParaRPr lang="en-US" sz="1500" dirty="0"/>
          </a:p>
          <a:p>
            <a:pPr indent="0" marL="0">
              <a:spcAft>
                <a:spcPts val="600"/>
              </a:spcAft>
              <a:buNone/>
            </a:pPr>
            <a:r>
              <a:rPr lang="en-US" sz="1500" b="1" dirty="0">
                <a:solidFill>
                  <a:srgbClr val="C8873A"/>
                </a:solidFill>
                <a:latin typeface="Calibri" pitchFamily="34" charset="0"/>
                <a:ea typeface="Calibri" pitchFamily="34" charset="-122"/>
                <a:cs typeface="Calibri" pitchFamily="34" charset="-120"/>
              </a:rPr>
              <a:t>Unit of economics:  </a:t>
            </a:r>
            <a:pPr indent="0" marL="0">
              <a:spcAft>
                <a:spcPts val="600"/>
              </a:spcAft>
              <a:buNone/>
            </a:pPr>
            <a:r>
              <a:rPr lang="en-US" sz="1500" dirty="0">
                <a:solidFill>
                  <a:srgbClr val="FFFFFF"/>
                </a:solidFill>
                <a:latin typeface="Calibri" pitchFamily="34" charset="0"/>
                <a:ea typeface="Calibri" pitchFamily="34" charset="-122"/>
                <a:cs typeface="Calibri" pitchFamily="34" charset="-120"/>
              </a:rPr>
              <a:t>one paid customer visit.</a:t>
            </a:r>
            <a:endParaRPr lang="en-US" sz="1500" dirty="0"/>
          </a:p>
        </p:txBody>
      </p:sp>
      <p:sp>
        <p:nvSpPr>
          <p:cNvPr id="21" name="Text 16"/>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Source: 01_Project_Definition; SRC-07 (Careers360, LPU profile)</a:t>
            </a:r>
            <a:endParaRPr lang="en-US" sz="1000" dirty="0"/>
          </a:p>
        </p:txBody>
      </p:sp>
      <p:sp>
        <p:nvSpPr>
          <p:cNvPr id="22" name="Text 17"/>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Initial investment and funding</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₹29.30 lakh committed at Year 0, funded 50% bank debt and 50% promoter equity</a:t>
            </a:r>
            <a:endParaRPr lang="en-US" sz="1500" dirty="0"/>
          </a:p>
        </p:txBody>
      </p:sp>
      <p:pic>
        <p:nvPicPr>
          <p:cNvPr id="4" name="Image 0" descr="snips/s06.png">    </p:cNvPr>
          <p:cNvPicPr>
            <a:picLocks noChangeAspect="1"/>
          </p:cNvPicPr>
          <p:nvPr/>
        </p:nvPicPr>
        <p:blipFill>
          <a:blip r:embed="rId1"/>
          <a:stretch>
            <a:fillRect/>
          </a:stretch>
        </p:blipFill>
        <p:spPr>
          <a:xfrm>
            <a:off x="457200" y="1554480"/>
            <a:ext cx="4043790" cy="4663440"/>
          </a:xfrm>
          <a:prstGeom prst="rect">
            <a:avLst/>
          </a:prstGeom>
          <a:effectLst>
            <a:outerShdw sx="100000" sy="100000" kx="0" ky="0" algn="bl" rotWithShape="0" blurRad="76200" dist="25400" dir="5400000">
              <a:srgbClr val="000000">
                <a:alpha val="18000"/>
              </a:srgbClr>
            </a:outerShdw>
          </a:effectLst>
        </p:spPr>
      </p:pic>
      <p:sp>
        <p:nvSpPr>
          <p:cNvPr id="5" name="Text 2"/>
          <p:cNvSpPr txBox="1"/>
          <p:nvPr/>
        </p:nvSpPr>
        <p:spPr>
          <a:xfrm>
            <a:off x="4983480" y="1554480"/>
            <a:ext cx="3566160" cy="320040"/>
          </a:xfrm>
          <a:prstGeom prst="rect">
            <a:avLst/>
          </a:prstGeom>
          <a:noFill/>
          <a:ln/>
        </p:spPr>
        <p:txBody>
          <a:bodyPr wrap="square" lIns="0" tIns="0" rIns="0" bIns="0" rtlCol="0" anchor="ctr"/>
          <a:lstStyle/>
          <a:p>
            <a:pPr indent="0" marL="0">
              <a:buNone/>
            </a:pPr>
            <a:r>
              <a:rPr lang="en-US" sz="1500" b="1" dirty="0">
                <a:solidFill>
                  <a:srgbClr val="2B1B14"/>
                </a:solidFill>
                <a:latin typeface="Cambria" pitchFamily="34" charset="0"/>
                <a:ea typeface="Cambria" pitchFamily="34" charset="-122"/>
                <a:cs typeface="Cambria" pitchFamily="34" charset="-120"/>
              </a:rPr>
              <a:t>Where the money goes (₹ lakh)</a:t>
            </a:r>
            <a:endParaRPr lang="en-US" sz="1500" dirty="0"/>
          </a:p>
        </p:txBody>
      </p:sp>
      <p:graphicFrame>
        <p:nvGraphicFramePr>
          <p:cNvPr id="6" name="Chart 0" descr=""/>
          <p:cNvGraphicFramePr/>
          <p:nvPr/>
        </p:nvGraphicFramePr>
        <p:xfrm>
          <a:off x="4846320" y="1874520"/>
          <a:ext cx="3566160" cy="36576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983480" y="5623560"/>
            <a:ext cx="3291840" cy="365760"/>
          </a:xfrm>
          <a:prstGeom prst="rect">
            <a:avLst/>
          </a:prstGeom>
          <a:noFill/>
          <a:ln/>
        </p:spPr>
        <p:txBody>
          <a:bodyPr wrap="square" lIns="0" tIns="0" rIns="0" bIns="0" rtlCol="0" anchor="ctr"/>
          <a:lstStyle/>
          <a:p>
            <a:pPr algn="ctr" indent="0" marL="0">
              <a:buNone/>
            </a:pPr>
            <a:r>
              <a:rPr lang="en-US" sz="1600" b="1" dirty="0">
                <a:solidFill>
                  <a:srgbClr val="2B1B14"/>
                </a:solidFill>
                <a:latin typeface="Cambria" pitchFamily="34" charset="0"/>
                <a:ea typeface="Cambria" pitchFamily="34" charset="-122"/>
                <a:cs typeface="Cambria" pitchFamily="34" charset="-120"/>
              </a:rPr>
              <a:t>Total ₹29.30 lakh</a:t>
            </a:r>
            <a:endParaRPr lang="en-US" sz="1600" dirty="0"/>
          </a:p>
        </p:txBody>
      </p:sp>
      <p:sp>
        <p:nvSpPr>
          <p:cNvPr id="8" name="Shape 4"/>
          <p:cNvSpPr/>
          <p:nvPr/>
        </p:nvSpPr>
        <p:spPr>
          <a:xfrm>
            <a:off x="8778240" y="1554480"/>
            <a:ext cx="2953512" cy="1325880"/>
          </a:xfrm>
          <a:prstGeom prst="roundRect">
            <a:avLst>
              <a:gd name="adj" fmla="val 5517"/>
            </a:avLst>
          </a:prstGeom>
          <a:solidFill>
            <a:srgbClr val="F4EFEA"/>
          </a:solidFill>
          <a:ln/>
        </p:spPr>
      </p:sp>
      <p:sp>
        <p:nvSpPr>
          <p:cNvPr id="9" name="Text 5"/>
          <p:cNvSpPr txBox="1"/>
          <p:nvPr/>
        </p:nvSpPr>
        <p:spPr>
          <a:xfrm>
            <a:off x="8961120" y="1664208"/>
            <a:ext cx="2587752" cy="729234"/>
          </a:xfrm>
          <a:prstGeom prst="rect">
            <a:avLst/>
          </a:prstGeom>
          <a:noFill/>
          <a:ln/>
        </p:spPr>
        <p:txBody>
          <a:bodyPr wrap="square" lIns="0" tIns="0" rIns="0" bIns="0" rtlCol="0" anchor="b"/>
          <a:lstStyle/>
          <a:p>
            <a:pPr indent="0" marL="0">
              <a:buNone/>
            </a:pPr>
            <a:r>
              <a:rPr lang="en-US" sz="2800" b="1" dirty="0">
                <a:solidFill>
                  <a:srgbClr val="2B1B14"/>
                </a:solidFill>
                <a:latin typeface="Cambria" pitchFamily="34" charset="0"/>
                <a:ea typeface="Cambria" pitchFamily="34" charset="-122"/>
                <a:cs typeface="Cambria" pitchFamily="34" charset="-120"/>
              </a:rPr>
              <a:t>₹14.65 lakh</a:t>
            </a:r>
            <a:endParaRPr lang="en-US" sz="2800" dirty="0"/>
          </a:p>
        </p:txBody>
      </p:sp>
      <p:sp>
        <p:nvSpPr>
          <p:cNvPr id="10" name="Text 6"/>
          <p:cNvSpPr txBox="1"/>
          <p:nvPr/>
        </p:nvSpPr>
        <p:spPr>
          <a:xfrm>
            <a:off x="8961120" y="2376526"/>
            <a:ext cx="2587752" cy="424282"/>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Bank term loan: 10% interest, 5 years, equal annual repayments</a:t>
            </a:r>
            <a:endParaRPr lang="en-US" sz="1250" dirty="0"/>
          </a:p>
        </p:txBody>
      </p:sp>
      <p:sp>
        <p:nvSpPr>
          <p:cNvPr id="11" name="Shape 7"/>
          <p:cNvSpPr/>
          <p:nvPr/>
        </p:nvSpPr>
        <p:spPr>
          <a:xfrm>
            <a:off x="8778240" y="3063240"/>
            <a:ext cx="2953512" cy="1325880"/>
          </a:xfrm>
          <a:prstGeom prst="roundRect">
            <a:avLst>
              <a:gd name="adj" fmla="val 5517"/>
            </a:avLst>
          </a:prstGeom>
          <a:solidFill>
            <a:srgbClr val="F4EFEA"/>
          </a:solidFill>
          <a:ln/>
        </p:spPr>
      </p:sp>
      <p:sp>
        <p:nvSpPr>
          <p:cNvPr id="12" name="Text 8"/>
          <p:cNvSpPr txBox="1"/>
          <p:nvPr/>
        </p:nvSpPr>
        <p:spPr>
          <a:xfrm>
            <a:off x="8961120" y="3172968"/>
            <a:ext cx="2587752" cy="729234"/>
          </a:xfrm>
          <a:prstGeom prst="rect">
            <a:avLst/>
          </a:prstGeom>
          <a:noFill/>
          <a:ln/>
        </p:spPr>
        <p:txBody>
          <a:bodyPr wrap="square" lIns="0" tIns="0" rIns="0" bIns="0" rtlCol="0" anchor="b"/>
          <a:lstStyle/>
          <a:p>
            <a:pPr indent="0" marL="0">
              <a:buNone/>
            </a:pPr>
            <a:r>
              <a:rPr lang="en-US" sz="2800" b="1" dirty="0">
                <a:solidFill>
                  <a:srgbClr val="2B1B14"/>
                </a:solidFill>
                <a:latin typeface="Cambria" pitchFamily="34" charset="0"/>
                <a:ea typeface="Cambria" pitchFamily="34" charset="-122"/>
                <a:cs typeface="Cambria" pitchFamily="34" charset="-120"/>
              </a:rPr>
              <a:t>₹14.65 lakh</a:t>
            </a:r>
            <a:endParaRPr lang="en-US" sz="2800" dirty="0"/>
          </a:p>
        </p:txBody>
      </p:sp>
      <p:sp>
        <p:nvSpPr>
          <p:cNvPr id="13" name="Text 9"/>
          <p:cNvSpPr txBox="1"/>
          <p:nvPr/>
        </p:nvSpPr>
        <p:spPr>
          <a:xfrm>
            <a:off x="8961120" y="3885286"/>
            <a:ext cx="2587752" cy="424282"/>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Promoter equity: the owner commitment a lender expects</a:t>
            </a:r>
            <a:endParaRPr lang="en-US" sz="1250" dirty="0"/>
          </a:p>
        </p:txBody>
      </p:sp>
      <p:sp>
        <p:nvSpPr>
          <p:cNvPr id="14" name="Shape 10"/>
          <p:cNvSpPr/>
          <p:nvPr/>
        </p:nvSpPr>
        <p:spPr>
          <a:xfrm>
            <a:off x="8778240" y="4572000"/>
            <a:ext cx="2953512" cy="1600200"/>
          </a:xfrm>
          <a:prstGeom prst="roundRect">
            <a:avLst>
              <a:gd name="adj" fmla="val 4571"/>
            </a:avLst>
          </a:prstGeom>
          <a:solidFill>
            <a:srgbClr val="2B1B14"/>
          </a:solidFill>
          <a:ln/>
        </p:spPr>
      </p:sp>
      <p:sp>
        <p:nvSpPr>
          <p:cNvPr id="15" name="Text 11"/>
          <p:cNvSpPr txBox="1"/>
          <p:nvPr/>
        </p:nvSpPr>
        <p:spPr>
          <a:xfrm>
            <a:off x="8961120" y="4663440"/>
            <a:ext cx="2606040" cy="14173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Leased premises, no subsidy assumed, and the cash buffer equals two months of Year-1 operating cost.</a:t>
            </a:r>
            <a:endParaRPr lang="en-US" sz="1350" dirty="0"/>
          </a:p>
        </p:txBody>
      </p:sp>
      <p:sp>
        <p:nvSpPr>
          <p:cNvPr id="16" name="Text 12"/>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06_Investment_Funding (₹). Funding check = 0</a:t>
            </a:r>
            <a:endParaRPr lang="en-US" sz="1000" dirty="0"/>
          </a:p>
        </p:txBody>
      </p:sp>
      <p:sp>
        <p:nvSpPr>
          <p:cNvPr id="17" name="Text 13"/>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Operating drivers, revenue and cost model</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Revenue is built from physical capacity, not typed in</a:t>
            </a:r>
            <a:endParaRPr lang="en-US" sz="1500" dirty="0"/>
          </a:p>
        </p:txBody>
      </p:sp>
      <p:sp>
        <p:nvSpPr>
          <p:cNvPr id="4" name="Shape 2"/>
          <p:cNvSpPr/>
          <p:nvPr/>
        </p:nvSpPr>
        <p:spPr>
          <a:xfrm>
            <a:off x="457200" y="1600200"/>
            <a:ext cx="1920240" cy="1143000"/>
          </a:xfrm>
          <a:prstGeom prst="roundRect">
            <a:avLst>
              <a:gd name="adj" fmla="val 6400"/>
            </a:avLst>
          </a:prstGeom>
          <a:solidFill>
            <a:srgbClr val="F4EFEA"/>
          </a:solidFill>
          <a:ln/>
        </p:spPr>
      </p:sp>
      <p:sp>
        <p:nvSpPr>
          <p:cNvPr id="5" name="Text 3"/>
          <p:cNvSpPr txBox="1"/>
          <p:nvPr/>
        </p:nvSpPr>
        <p:spPr>
          <a:xfrm>
            <a:off x="548640" y="1664208"/>
            <a:ext cx="1737360" cy="594360"/>
          </a:xfrm>
          <a:prstGeom prst="rect">
            <a:avLst/>
          </a:prstGeom>
          <a:noFill/>
          <a:ln/>
        </p:spPr>
        <p:txBody>
          <a:bodyPr wrap="square" lIns="0" tIns="0" rIns="0" bIns="0" rtlCol="0" anchor="b"/>
          <a:lstStyle/>
          <a:p>
            <a:pPr algn="ctr" indent="0" marL="0">
              <a:buNone/>
            </a:pPr>
            <a:r>
              <a:rPr lang="en-US" sz="2400" b="1" dirty="0">
                <a:solidFill>
                  <a:srgbClr val="2B1B14"/>
                </a:solidFill>
                <a:latin typeface="Cambria" pitchFamily="34" charset="0"/>
                <a:ea typeface="Cambria" pitchFamily="34" charset="-122"/>
                <a:cs typeface="Cambria" pitchFamily="34" charset="-120"/>
              </a:rPr>
              <a:t>30</a:t>
            </a:r>
            <a:endParaRPr lang="en-US" sz="2400" dirty="0"/>
          </a:p>
        </p:txBody>
      </p:sp>
      <p:sp>
        <p:nvSpPr>
          <p:cNvPr id="6" name="Text 4"/>
          <p:cNvSpPr txBox="1"/>
          <p:nvPr/>
        </p:nvSpPr>
        <p:spPr>
          <a:xfrm>
            <a:off x="548640" y="2258568"/>
            <a:ext cx="1737360" cy="411480"/>
          </a:xfrm>
          <a:prstGeom prst="rect">
            <a:avLst/>
          </a:prstGeom>
          <a:noFill/>
          <a:ln/>
        </p:spPr>
        <p:txBody>
          <a:bodyPr wrap="square" lIns="0" tIns="0" rIns="0" bIns="0" rtlCol="0" anchor="t"/>
          <a:lstStyle/>
          <a:p>
            <a:pPr algn="ctr" indent="0" marL="0">
              <a:buNone/>
            </a:pPr>
            <a:r>
              <a:rPr lang="en-US" sz="1200" dirty="0">
                <a:solidFill>
                  <a:srgbClr val="6B625C"/>
                </a:solidFill>
                <a:latin typeface="Calibri" pitchFamily="34" charset="0"/>
                <a:ea typeface="Calibri" pitchFamily="34" charset="-122"/>
                <a:cs typeface="Calibri" pitchFamily="34" charset="-120"/>
              </a:rPr>
              <a:t>seats</a:t>
            </a:r>
            <a:endParaRPr lang="en-US" sz="1200" dirty="0"/>
          </a:p>
        </p:txBody>
      </p:sp>
      <p:sp>
        <p:nvSpPr>
          <p:cNvPr id="7" name="Text 5"/>
          <p:cNvSpPr txBox="1"/>
          <p:nvPr/>
        </p:nvSpPr>
        <p:spPr>
          <a:xfrm>
            <a:off x="2377440" y="1600200"/>
            <a:ext cx="365760" cy="1143000"/>
          </a:xfrm>
          <a:prstGeom prst="rect">
            <a:avLst/>
          </a:prstGeom>
          <a:noFill/>
          <a:ln/>
        </p:spPr>
        <p:txBody>
          <a:bodyPr wrap="square" lIns="0" tIns="0" rIns="0" bIns="0" rtlCol="0" anchor="ctr"/>
          <a:lstStyle/>
          <a:p>
            <a:pPr algn="ctr" indent="0" marL="0">
              <a:buNone/>
            </a:pPr>
            <a:r>
              <a:rPr lang="en-US" sz="2600" b="1" dirty="0">
                <a:solidFill>
                  <a:srgbClr val="C8873A"/>
                </a:solidFill>
                <a:latin typeface="Cambria" pitchFamily="34" charset="0"/>
                <a:ea typeface="Cambria" pitchFamily="34" charset="-122"/>
                <a:cs typeface="Cambria" pitchFamily="34" charset="-120"/>
              </a:rPr>
              <a:t>×</a:t>
            </a:r>
            <a:endParaRPr lang="en-US" sz="2600" dirty="0"/>
          </a:p>
        </p:txBody>
      </p:sp>
      <p:sp>
        <p:nvSpPr>
          <p:cNvPr id="8" name="Shape 6"/>
          <p:cNvSpPr/>
          <p:nvPr/>
        </p:nvSpPr>
        <p:spPr>
          <a:xfrm>
            <a:off x="2743200" y="1600200"/>
            <a:ext cx="1920240" cy="1143000"/>
          </a:xfrm>
          <a:prstGeom prst="roundRect">
            <a:avLst>
              <a:gd name="adj" fmla="val 6400"/>
            </a:avLst>
          </a:prstGeom>
          <a:solidFill>
            <a:srgbClr val="F4EFEA"/>
          </a:solidFill>
          <a:ln/>
        </p:spPr>
      </p:sp>
      <p:sp>
        <p:nvSpPr>
          <p:cNvPr id="9" name="Text 7"/>
          <p:cNvSpPr txBox="1"/>
          <p:nvPr/>
        </p:nvSpPr>
        <p:spPr>
          <a:xfrm>
            <a:off x="2834640" y="1664208"/>
            <a:ext cx="1737360" cy="594360"/>
          </a:xfrm>
          <a:prstGeom prst="rect">
            <a:avLst/>
          </a:prstGeom>
          <a:noFill/>
          <a:ln/>
        </p:spPr>
        <p:txBody>
          <a:bodyPr wrap="square" lIns="0" tIns="0" rIns="0" bIns="0" rtlCol="0" anchor="b"/>
          <a:lstStyle/>
          <a:p>
            <a:pPr algn="ctr" indent="0" marL="0">
              <a:buNone/>
            </a:pPr>
            <a:r>
              <a:rPr lang="en-US" sz="2400" b="1" dirty="0">
                <a:solidFill>
                  <a:srgbClr val="2B1B14"/>
                </a:solidFill>
                <a:latin typeface="Cambria" pitchFamily="34" charset="0"/>
                <a:ea typeface="Cambria" pitchFamily="34" charset="-122"/>
                <a:cs typeface="Cambria" pitchFamily="34" charset="-120"/>
              </a:rPr>
              <a:t>2.5 → 4.0</a:t>
            </a:r>
            <a:endParaRPr lang="en-US" sz="2400" dirty="0"/>
          </a:p>
        </p:txBody>
      </p:sp>
      <p:sp>
        <p:nvSpPr>
          <p:cNvPr id="10" name="Text 8"/>
          <p:cNvSpPr txBox="1"/>
          <p:nvPr/>
        </p:nvSpPr>
        <p:spPr>
          <a:xfrm>
            <a:off x="2834640" y="2258568"/>
            <a:ext cx="1737360" cy="411480"/>
          </a:xfrm>
          <a:prstGeom prst="rect">
            <a:avLst/>
          </a:prstGeom>
          <a:noFill/>
          <a:ln/>
        </p:spPr>
        <p:txBody>
          <a:bodyPr wrap="square" lIns="0" tIns="0" rIns="0" bIns="0" rtlCol="0" anchor="t"/>
          <a:lstStyle/>
          <a:p>
            <a:pPr algn="ctr" indent="0" marL="0">
              <a:buNone/>
            </a:pPr>
            <a:r>
              <a:rPr lang="en-US" sz="1200" dirty="0">
                <a:solidFill>
                  <a:srgbClr val="6B625C"/>
                </a:solidFill>
                <a:latin typeface="Calibri" pitchFamily="34" charset="0"/>
                <a:ea typeface="Calibri" pitchFamily="34" charset="-122"/>
                <a:cs typeface="Calibri" pitchFamily="34" charset="-120"/>
              </a:rPr>
              <a:t>seat turns per day</a:t>
            </a:r>
            <a:endParaRPr lang="en-US" sz="1200" dirty="0"/>
          </a:p>
        </p:txBody>
      </p:sp>
      <p:sp>
        <p:nvSpPr>
          <p:cNvPr id="11" name="Text 9"/>
          <p:cNvSpPr txBox="1"/>
          <p:nvPr/>
        </p:nvSpPr>
        <p:spPr>
          <a:xfrm>
            <a:off x="4663440" y="1600200"/>
            <a:ext cx="365760" cy="1143000"/>
          </a:xfrm>
          <a:prstGeom prst="rect">
            <a:avLst/>
          </a:prstGeom>
          <a:noFill/>
          <a:ln/>
        </p:spPr>
        <p:txBody>
          <a:bodyPr wrap="square" lIns="0" tIns="0" rIns="0" bIns="0" rtlCol="0" anchor="ctr"/>
          <a:lstStyle/>
          <a:p>
            <a:pPr algn="ctr" indent="0" marL="0">
              <a:buNone/>
            </a:pPr>
            <a:r>
              <a:rPr lang="en-US" sz="2600" b="1" dirty="0">
                <a:solidFill>
                  <a:srgbClr val="C8873A"/>
                </a:solidFill>
                <a:latin typeface="Cambria" pitchFamily="34" charset="0"/>
                <a:ea typeface="Cambria" pitchFamily="34" charset="-122"/>
                <a:cs typeface="Cambria" pitchFamily="34" charset="-120"/>
              </a:rPr>
              <a:t>×</a:t>
            </a:r>
            <a:endParaRPr lang="en-US" sz="2600" dirty="0"/>
          </a:p>
        </p:txBody>
      </p:sp>
      <p:sp>
        <p:nvSpPr>
          <p:cNvPr id="12" name="Shape 10"/>
          <p:cNvSpPr/>
          <p:nvPr/>
        </p:nvSpPr>
        <p:spPr>
          <a:xfrm>
            <a:off x="5029200" y="1600200"/>
            <a:ext cx="1920240" cy="1143000"/>
          </a:xfrm>
          <a:prstGeom prst="roundRect">
            <a:avLst>
              <a:gd name="adj" fmla="val 6400"/>
            </a:avLst>
          </a:prstGeom>
          <a:solidFill>
            <a:srgbClr val="F4EFEA"/>
          </a:solidFill>
          <a:ln/>
        </p:spPr>
      </p:sp>
      <p:sp>
        <p:nvSpPr>
          <p:cNvPr id="13" name="Text 11"/>
          <p:cNvSpPr txBox="1"/>
          <p:nvPr/>
        </p:nvSpPr>
        <p:spPr>
          <a:xfrm>
            <a:off x="5120640" y="1664208"/>
            <a:ext cx="1737360" cy="594360"/>
          </a:xfrm>
          <a:prstGeom prst="rect">
            <a:avLst/>
          </a:prstGeom>
          <a:noFill/>
          <a:ln/>
        </p:spPr>
        <p:txBody>
          <a:bodyPr wrap="square" lIns="0" tIns="0" rIns="0" bIns="0" rtlCol="0" anchor="b"/>
          <a:lstStyle/>
          <a:p>
            <a:pPr algn="ctr" indent="0" marL="0">
              <a:buNone/>
            </a:pPr>
            <a:r>
              <a:rPr lang="en-US" sz="2400" b="1" dirty="0">
                <a:solidFill>
                  <a:srgbClr val="2B1B14"/>
                </a:solidFill>
                <a:latin typeface="Cambria" pitchFamily="34" charset="0"/>
                <a:ea typeface="Cambria" pitchFamily="34" charset="-122"/>
                <a:cs typeface="Cambria" pitchFamily="34" charset="-120"/>
              </a:rPr>
              <a:t>330</a:t>
            </a:r>
            <a:endParaRPr lang="en-US" sz="2400" dirty="0"/>
          </a:p>
        </p:txBody>
      </p:sp>
      <p:sp>
        <p:nvSpPr>
          <p:cNvPr id="14" name="Text 12"/>
          <p:cNvSpPr txBox="1"/>
          <p:nvPr/>
        </p:nvSpPr>
        <p:spPr>
          <a:xfrm>
            <a:off x="5120640" y="2258568"/>
            <a:ext cx="1737360" cy="411480"/>
          </a:xfrm>
          <a:prstGeom prst="rect">
            <a:avLst/>
          </a:prstGeom>
          <a:noFill/>
          <a:ln/>
        </p:spPr>
        <p:txBody>
          <a:bodyPr wrap="square" lIns="0" tIns="0" rIns="0" bIns="0" rtlCol="0" anchor="t"/>
          <a:lstStyle/>
          <a:p>
            <a:pPr algn="ctr" indent="0" marL="0">
              <a:buNone/>
            </a:pPr>
            <a:r>
              <a:rPr lang="en-US" sz="1200" dirty="0">
                <a:solidFill>
                  <a:srgbClr val="6B625C"/>
                </a:solidFill>
                <a:latin typeface="Calibri" pitchFamily="34" charset="0"/>
                <a:ea typeface="Calibri" pitchFamily="34" charset="-122"/>
                <a:cs typeface="Calibri" pitchFamily="34" charset="-120"/>
              </a:rPr>
              <a:t>days open</a:t>
            </a:r>
            <a:endParaRPr lang="en-US" sz="1200" dirty="0"/>
          </a:p>
        </p:txBody>
      </p:sp>
      <p:sp>
        <p:nvSpPr>
          <p:cNvPr id="15" name="Text 13"/>
          <p:cNvSpPr txBox="1"/>
          <p:nvPr/>
        </p:nvSpPr>
        <p:spPr>
          <a:xfrm>
            <a:off x="6949440" y="1600200"/>
            <a:ext cx="365760" cy="1143000"/>
          </a:xfrm>
          <a:prstGeom prst="rect">
            <a:avLst/>
          </a:prstGeom>
          <a:noFill/>
          <a:ln/>
        </p:spPr>
        <p:txBody>
          <a:bodyPr wrap="square" lIns="0" tIns="0" rIns="0" bIns="0" rtlCol="0" anchor="ctr"/>
          <a:lstStyle/>
          <a:p>
            <a:pPr algn="ctr" indent="0" marL="0">
              <a:buNone/>
            </a:pPr>
            <a:r>
              <a:rPr lang="en-US" sz="2600" b="1" dirty="0">
                <a:solidFill>
                  <a:srgbClr val="C8873A"/>
                </a:solidFill>
                <a:latin typeface="Cambria" pitchFamily="34" charset="0"/>
                <a:ea typeface="Cambria" pitchFamily="34" charset="-122"/>
                <a:cs typeface="Cambria" pitchFamily="34" charset="-120"/>
              </a:rPr>
              <a:t>×</a:t>
            </a:r>
            <a:endParaRPr lang="en-US" sz="2600" dirty="0"/>
          </a:p>
        </p:txBody>
      </p:sp>
      <p:sp>
        <p:nvSpPr>
          <p:cNvPr id="16" name="Shape 14"/>
          <p:cNvSpPr/>
          <p:nvPr/>
        </p:nvSpPr>
        <p:spPr>
          <a:xfrm>
            <a:off x="7315200" y="1600200"/>
            <a:ext cx="1920240" cy="1143000"/>
          </a:xfrm>
          <a:prstGeom prst="roundRect">
            <a:avLst>
              <a:gd name="adj" fmla="val 6400"/>
            </a:avLst>
          </a:prstGeom>
          <a:solidFill>
            <a:srgbClr val="F4EFEA"/>
          </a:solidFill>
          <a:ln/>
        </p:spPr>
      </p:sp>
      <p:sp>
        <p:nvSpPr>
          <p:cNvPr id="17" name="Text 15"/>
          <p:cNvSpPr txBox="1"/>
          <p:nvPr/>
        </p:nvSpPr>
        <p:spPr>
          <a:xfrm>
            <a:off x="7406640" y="1664208"/>
            <a:ext cx="1737360" cy="594360"/>
          </a:xfrm>
          <a:prstGeom prst="rect">
            <a:avLst/>
          </a:prstGeom>
          <a:noFill/>
          <a:ln/>
        </p:spPr>
        <p:txBody>
          <a:bodyPr wrap="square" lIns="0" tIns="0" rIns="0" bIns="0" rtlCol="0" anchor="b"/>
          <a:lstStyle/>
          <a:p>
            <a:pPr algn="ctr" indent="0" marL="0">
              <a:buNone/>
            </a:pPr>
            <a:r>
              <a:rPr lang="en-US" sz="2400" b="1" dirty="0">
                <a:solidFill>
                  <a:srgbClr val="2B1B14"/>
                </a:solidFill>
                <a:latin typeface="Cambria" pitchFamily="34" charset="0"/>
                <a:ea typeface="Cambria" pitchFamily="34" charset="-122"/>
                <a:cs typeface="Cambria" pitchFamily="34" charset="-120"/>
              </a:rPr>
              <a:t>₹160</a:t>
            </a:r>
            <a:endParaRPr lang="en-US" sz="2400" dirty="0"/>
          </a:p>
        </p:txBody>
      </p:sp>
      <p:sp>
        <p:nvSpPr>
          <p:cNvPr id="18" name="Text 16"/>
          <p:cNvSpPr txBox="1"/>
          <p:nvPr/>
        </p:nvSpPr>
        <p:spPr>
          <a:xfrm>
            <a:off x="7406640" y="2258568"/>
            <a:ext cx="1737360" cy="411480"/>
          </a:xfrm>
          <a:prstGeom prst="rect">
            <a:avLst/>
          </a:prstGeom>
          <a:noFill/>
          <a:ln/>
        </p:spPr>
        <p:txBody>
          <a:bodyPr wrap="square" lIns="0" tIns="0" rIns="0" bIns="0" rtlCol="0" anchor="t"/>
          <a:lstStyle/>
          <a:p>
            <a:pPr algn="ctr" indent="0" marL="0">
              <a:buNone/>
            </a:pPr>
            <a:r>
              <a:rPr lang="en-US" sz="1200" dirty="0">
                <a:solidFill>
                  <a:srgbClr val="6B625C"/>
                </a:solidFill>
                <a:latin typeface="Calibri" pitchFamily="34" charset="0"/>
                <a:ea typeface="Calibri" pitchFamily="34" charset="-122"/>
                <a:cs typeface="Calibri" pitchFamily="34" charset="-120"/>
              </a:rPr>
              <a:t>average bill, +5% a year</a:t>
            </a:r>
            <a:endParaRPr lang="en-US" sz="1200" dirty="0"/>
          </a:p>
        </p:txBody>
      </p:sp>
      <p:sp>
        <p:nvSpPr>
          <p:cNvPr id="19" name="Text 17"/>
          <p:cNvSpPr txBox="1"/>
          <p:nvPr/>
        </p:nvSpPr>
        <p:spPr>
          <a:xfrm>
            <a:off x="9235440" y="1600200"/>
            <a:ext cx="365760" cy="1143000"/>
          </a:xfrm>
          <a:prstGeom prst="rect">
            <a:avLst/>
          </a:prstGeom>
          <a:noFill/>
          <a:ln/>
        </p:spPr>
        <p:txBody>
          <a:bodyPr wrap="square" lIns="0" tIns="0" rIns="0" bIns="0" rtlCol="0" anchor="ctr"/>
          <a:lstStyle/>
          <a:p>
            <a:pPr algn="ctr" indent="0" marL="0">
              <a:buNone/>
            </a:pPr>
            <a:r>
              <a:rPr lang="en-US" sz="2600" b="1" dirty="0">
                <a:solidFill>
                  <a:srgbClr val="C8873A"/>
                </a:solidFill>
                <a:latin typeface="Cambria" pitchFamily="34" charset="0"/>
                <a:ea typeface="Cambria" pitchFamily="34" charset="-122"/>
                <a:cs typeface="Cambria" pitchFamily="34" charset="-120"/>
              </a:rPr>
              <a:t>=</a:t>
            </a:r>
            <a:endParaRPr lang="en-US" sz="2600" dirty="0"/>
          </a:p>
        </p:txBody>
      </p:sp>
      <p:sp>
        <p:nvSpPr>
          <p:cNvPr id="20" name="Shape 18"/>
          <p:cNvSpPr/>
          <p:nvPr/>
        </p:nvSpPr>
        <p:spPr>
          <a:xfrm>
            <a:off x="9601200" y="1600200"/>
            <a:ext cx="1920240" cy="1143000"/>
          </a:xfrm>
          <a:prstGeom prst="roundRect">
            <a:avLst>
              <a:gd name="adj" fmla="val 6400"/>
            </a:avLst>
          </a:prstGeom>
          <a:solidFill>
            <a:srgbClr val="2B1B14"/>
          </a:solidFill>
          <a:ln/>
        </p:spPr>
      </p:sp>
      <p:sp>
        <p:nvSpPr>
          <p:cNvPr id="21" name="Text 19"/>
          <p:cNvSpPr txBox="1"/>
          <p:nvPr/>
        </p:nvSpPr>
        <p:spPr>
          <a:xfrm>
            <a:off x="9692640" y="1664208"/>
            <a:ext cx="1737360" cy="594360"/>
          </a:xfrm>
          <a:prstGeom prst="rect">
            <a:avLst/>
          </a:prstGeom>
          <a:noFill/>
          <a:ln/>
        </p:spPr>
        <p:txBody>
          <a:bodyPr wrap="square" lIns="0" tIns="0" rIns="0" bIns="0" rtlCol="0" anchor="b"/>
          <a:lstStyle/>
          <a:p>
            <a:pPr algn="ctr" indent="0" marL="0">
              <a:buNone/>
            </a:pPr>
            <a:r>
              <a:rPr lang="en-US" sz="2400" b="1" dirty="0">
                <a:solidFill>
                  <a:srgbClr val="C8873A"/>
                </a:solidFill>
                <a:latin typeface="Cambria" pitchFamily="34" charset="0"/>
                <a:ea typeface="Cambria" pitchFamily="34" charset="-122"/>
                <a:cs typeface="Cambria" pitchFamily="34" charset="-120"/>
              </a:rPr>
              <a:t>₹39.6 lakh</a:t>
            </a:r>
            <a:endParaRPr lang="en-US" sz="2400" dirty="0"/>
          </a:p>
        </p:txBody>
      </p:sp>
      <p:sp>
        <p:nvSpPr>
          <p:cNvPr id="22" name="Text 20"/>
          <p:cNvSpPr txBox="1"/>
          <p:nvPr/>
        </p:nvSpPr>
        <p:spPr>
          <a:xfrm>
            <a:off x="9692640" y="2258568"/>
            <a:ext cx="1737360" cy="41148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Year-1 revenue</a:t>
            </a:r>
            <a:endParaRPr lang="en-US" sz="1200" dirty="0"/>
          </a:p>
        </p:txBody>
      </p:sp>
      <p:pic>
        <p:nvPicPr>
          <p:cNvPr id="23" name="Image 0" descr="snips/s05.png">    </p:cNvPr>
          <p:cNvPicPr>
            <a:picLocks noChangeAspect="1"/>
          </p:cNvPicPr>
          <p:nvPr/>
        </p:nvPicPr>
        <p:blipFill>
          <a:blip r:embed="rId1"/>
          <a:stretch>
            <a:fillRect/>
          </a:stretch>
        </p:blipFill>
        <p:spPr>
          <a:xfrm>
            <a:off x="457200" y="3108960"/>
            <a:ext cx="7406640" cy="2107545"/>
          </a:xfrm>
          <a:prstGeom prst="rect">
            <a:avLst/>
          </a:prstGeom>
          <a:effectLst>
            <a:outerShdw sx="100000" sy="100000" kx="0" ky="0" algn="bl" rotWithShape="0" blurRad="76200" dist="25400" dir="5400000">
              <a:srgbClr val="000000">
                <a:alpha val="18000"/>
              </a:srgbClr>
            </a:outerShdw>
          </a:effectLst>
        </p:spPr>
      </p:pic>
      <p:sp>
        <p:nvSpPr>
          <p:cNvPr id="24" name="Shape 21"/>
          <p:cNvSpPr/>
          <p:nvPr/>
        </p:nvSpPr>
        <p:spPr>
          <a:xfrm>
            <a:off x="8183880" y="3108960"/>
            <a:ext cx="3547872" cy="3063240"/>
          </a:xfrm>
          <a:prstGeom prst="roundRect">
            <a:avLst>
              <a:gd name="adj" fmla="val 2388"/>
            </a:avLst>
          </a:prstGeom>
          <a:solidFill>
            <a:srgbClr val="F4EFEA"/>
          </a:solidFill>
          <a:ln/>
        </p:spPr>
      </p:sp>
      <p:sp>
        <p:nvSpPr>
          <p:cNvPr id="25" name="Text 22"/>
          <p:cNvSpPr txBox="1"/>
          <p:nvPr/>
        </p:nvSpPr>
        <p:spPr>
          <a:xfrm>
            <a:off x="8412480" y="3200400"/>
            <a:ext cx="3108960" cy="411480"/>
          </a:xfrm>
          <a:prstGeom prst="rect">
            <a:avLst/>
          </a:prstGeom>
          <a:noFill/>
          <a:ln/>
        </p:spPr>
        <p:txBody>
          <a:bodyPr wrap="square" lIns="0" tIns="0" rIns="0" bIns="0" rtlCol="0" anchor="ctr"/>
          <a:lstStyle/>
          <a:p>
            <a:pPr indent="0" marL="0">
              <a:buNone/>
            </a:pPr>
            <a:r>
              <a:rPr lang="en-US" sz="1800" b="1" dirty="0">
                <a:solidFill>
                  <a:srgbClr val="2B1B14"/>
                </a:solidFill>
                <a:latin typeface="Cambria" pitchFamily="34" charset="0"/>
                <a:ea typeface="Cambria" pitchFamily="34" charset="-122"/>
                <a:cs typeface="Cambria" pitchFamily="34" charset="-120"/>
              </a:rPr>
              <a:t>Cost model</a:t>
            </a:r>
            <a:endParaRPr lang="en-US" sz="1800" dirty="0"/>
          </a:p>
        </p:txBody>
      </p:sp>
      <p:sp>
        <p:nvSpPr>
          <p:cNvPr id="26" name="Text 23"/>
          <p:cNvSpPr txBox="1"/>
          <p:nvPr/>
        </p:nvSpPr>
        <p:spPr>
          <a:xfrm>
            <a:off x="8412480" y="3703320"/>
            <a:ext cx="3200400" cy="2377440"/>
          </a:xfrm>
          <a:prstGeom prst="rect">
            <a:avLst/>
          </a:prstGeom>
          <a:noFill/>
          <a:ln/>
        </p:spPr>
        <p:txBody>
          <a:bodyPr wrap="square" lIns="0" tIns="0" rIns="0" bIns="0" rtlCol="0" anchor="t"/>
          <a:lstStyle/>
          <a:p>
            <a:pPr indent="0" marL="0">
              <a:spcAft>
                <a:spcPts val="300"/>
              </a:spcAft>
              <a:buNone/>
            </a:pPr>
            <a:r>
              <a:rPr lang="en-US" sz="1500" b="1" dirty="0">
                <a:solidFill>
                  <a:srgbClr val="1F1A17"/>
                </a:solidFill>
                <a:latin typeface="Calibri" pitchFamily="34" charset="0"/>
                <a:ea typeface="Calibri" pitchFamily="34" charset="-122"/>
                <a:cs typeface="Calibri" pitchFamily="34" charset="-120"/>
              </a:rPr>
              <a:t>Variable: 36% of sales</a:t>
            </a:r>
            <a:endParaRPr lang="en-US" sz="1500" dirty="0"/>
          </a:p>
          <a:p>
            <a:pPr indent="0" marL="0">
              <a:spcAft>
                <a:spcPts val="300"/>
              </a:spcAft>
              <a:buNone/>
            </a:pPr>
            <a:r>
              <a:rPr lang="en-US" sz="1500" dirty="0">
                <a:solidFill>
                  <a:srgbClr val="6B625C"/>
                </a:solidFill>
                <a:latin typeface="Calibri" pitchFamily="34" charset="0"/>
                <a:ea typeface="Calibri" pitchFamily="34" charset="-122"/>
                <a:cs typeface="Calibri" pitchFamily="34" charset="-120"/>
              </a:rPr>
              <a:t>Ingredients 32% + packaging 4%</a:t>
            </a:r>
            <a:endParaRPr lang="en-US" sz="1500" dirty="0"/>
          </a:p>
          <a:p>
            <a:pPr indent="0" marL="0">
              <a:spcAft>
                <a:spcPts val="300"/>
              </a:spcAft>
              <a:buNone/>
            </a:pPr>
            <a:r>
              <a:rPr lang="en-US" sz="1500" b="1" dirty="0">
                <a:solidFill>
                  <a:srgbClr val="1F1A17"/>
                </a:solidFill>
                <a:latin typeface="Calibri" pitchFamily="34" charset="0"/>
                <a:ea typeface="Calibri" pitchFamily="34" charset="-122"/>
                <a:cs typeface="Calibri" pitchFamily="34" charset="-120"/>
              </a:rPr>
              <a:t>Fixed: ₹24.63 lakh in Year 1</a:t>
            </a:r>
            <a:endParaRPr lang="en-US" sz="1500" dirty="0"/>
          </a:p>
          <a:p>
            <a:pPr indent="0" marL="0">
              <a:spcAft>
                <a:spcPts val="300"/>
              </a:spcAft>
              <a:buNone/>
            </a:pPr>
            <a:r>
              <a:rPr lang="en-US" sz="1500" dirty="0">
                <a:solidFill>
                  <a:srgbClr val="6B625C"/>
                </a:solidFill>
                <a:latin typeface="Calibri" pitchFamily="34" charset="0"/>
                <a:ea typeface="Calibri" pitchFamily="34" charset="-122"/>
                <a:cs typeface="Calibri" pitchFamily="34" charset="-120"/>
              </a:rPr>
              <a:t>Salaries ₹11.73L, rent ₹8.10L, overheads</a:t>
            </a:r>
            <a:endParaRPr lang="en-US" sz="1500" dirty="0"/>
          </a:p>
          <a:p>
            <a:pPr indent="0" marL="0">
              <a:spcAft>
                <a:spcPts val="300"/>
              </a:spcAft>
              <a:buNone/>
            </a:pPr>
            <a:r>
              <a:rPr lang="en-US" sz="1500" b="1" dirty="0">
                <a:solidFill>
                  <a:srgbClr val="1F1A17"/>
                </a:solidFill>
                <a:latin typeface="Calibri" pitchFamily="34" charset="0"/>
                <a:ea typeface="Calibri" pitchFamily="34" charset="-122"/>
                <a:cs typeface="Calibri" pitchFamily="34" charset="-120"/>
              </a:rPr>
              <a:t>Semi-variable: electricity</a:t>
            </a:r>
            <a:endParaRPr lang="en-US" sz="1500" dirty="0"/>
          </a:p>
          <a:p>
            <a:pPr indent="0" marL="0">
              <a:spcAft>
                <a:spcPts val="300"/>
              </a:spcAft>
              <a:buNone/>
            </a:pPr>
            <a:r>
              <a:rPr lang="en-US" sz="1500" dirty="0">
                <a:solidFill>
                  <a:srgbClr val="6B625C"/>
                </a:solidFill>
                <a:latin typeface="Calibri" pitchFamily="34" charset="0"/>
                <a:ea typeface="Calibri" pitchFamily="34" charset="-122"/>
                <a:cs typeface="Calibri" pitchFamily="34" charset="-120"/>
              </a:rPr>
              <a:t>60% fixed, 40% moves with customers</a:t>
            </a:r>
            <a:endParaRPr lang="en-US" sz="1500" dirty="0"/>
          </a:p>
        </p:txBody>
      </p:sp>
      <p:sp>
        <p:nvSpPr>
          <p:cNvPr id="27" name="Text 24"/>
          <p:cNvSpPr txBox="1"/>
          <p:nvPr/>
        </p:nvSpPr>
        <p:spPr>
          <a:xfrm>
            <a:off x="457200" y="5440680"/>
            <a:ext cx="7406640" cy="548640"/>
          </a:xfrm>
          <a:prstGeom prst="rect">
            <a:avLst/>
          </a:prstGeom>
          <a:noFill/>
          <a:ln/>
        </p:spPr>
        <p:txBody>
          <a:bodyPr wrap="square" lIns="0" tIns="0" rIns="0" bIns="0" rtlCol="0" anchor="ctr"/>
          <a:lstStyle/>
          <a:p>
            <a:pPr indent="0" marL="0">
              <a:buNone/>
            </a:pPr>
            <a:r>
              <a:rPr lang="en-US" sz="1400" i="1" dirty="0">
                <a:solidFill>
                  <a:srgbClr val="5A3825"/>
                </a:solidFill>
                <a:latin typeface="Calibri" pitchFamily="34" charset="0"/>
                <a:ea typeface="Calibri" pitchFamily="34" charset="-122"/>
                <a:cs typeface="Calibri" pitchFamily="34" charset="-120"/>
              </a:rPr>
              <a:t>75 customers a day in Year 1 rising to 120 by Year 5: a small share of a 30,000+ campus.</a:t>
            </a:r>
            <a:endParaRPr lang="en-US" sz="1400" dirty="0"/>
          </a:p>
        </p:txBody>
      </p:sp>
      <p:sp>
        <p:nvSpPr>
          <p:cNvPr id="28" name="Text 25"/>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05_Operating_Drivers. Costs: 08_Cost_Model</a:t>
            </a:r>
            <a:endParaRPr lang="en-US" sz="1000" dirty="0"/>
          </a:p>
        </p:txBody>
      </p:sp>
      <p:sp>
        <p:nvSpPr>
          <p:cNvPr id="29" name="Text 26"/>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Financial performance: Years 1 to 5</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A thin first year, then strong operating leverage as customers grow</a:t>
            </a:r>
            <a:endParaRPr lang="en-US" sz="1500" dirty="0"/>
          </a:p>
        </p:txBody>
      </p:sp>
      <p:pic>
        <p:nvPicPr>
          <p:cNvPr id="4" name="Image 0" descr="snips/s12.png">    </p:cNvPr>
          <p:cNvPicPr>
            <a:picLocks noChangeAspect="1"/>
          </p:cNvPicPr>
          <p:nvPr/>
        </p:nvPicPr>
        <p:blipFill>
          <a:blip r:embed="rId1"/>
          <a:stretch>
            <a:fillRect/>
          </a:stretch>
        </p:blipFill>
        <p:spPr>
          <a:xfrm>
            <a:off x="457200" y="1554480"/>
            <a:ext cx="6035040" cy="3497529"/>
          </a:xfrm>
          <a:prstGeom prst="rect">
            <a:avLst/>
          </a:prstGeom>
          <a:effectLst>
            <a:outerShdw sx="100000" sy="100000" kx="0" ky="0" algn="bl" rotWithShape="0" blurRad="76200" dist="25400" dir="5400000">
              <a:srgbClr val="000000">
                <a:alpha val="18000"/>
              </a:srgbClr>
            </a:outerShdw>
          </a:effectLst>
        </p:spPr>
      </p:pic>
      <p:graphicFrame>
        <p:nvGraphicFramePr>
          <p:cNvPr id="5" name="Chart 0" descr=""/>
          <p:cNvGraphicFramePr/>
          <p:nvPr/>
        </p:nvGraphicFramePr>
        <p:xfrm>
          <a:off x="6766560" y="1463040"/>
          <a:ext cx="4983480" cy="37490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6766560" y="5349240"/>
            <a:ext cx="4983480" cy="822960"/>
          </a:xfrm>
          <a:prstGeom prst="roundRect">
            <a:avLst>
              <a:gd name="adj" fmla="val 8889"/>
            </a:avLst>
          </a:prstGeom>
          <a:solidFill>
            <a:srgbClr val="2B1B14"/>
          </a:solidFill>
          <a:ln/>
        </p:spPr>
      </p:sp>
      <p:sp>
        <p:nvSpPr>
          <p:cNvPr id="7" name="Text 3"/>
          <p:cNvSpPr txBox="1"/>
          <p:nvPr/>
        </p:nvSpPr>
        <p:spPr>
          <a:xfrm>
            <a:off x="6949440" y="5394960"/>
            <a:ext cx="46634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EBITDA margin climbs from 1.8% to 23.8%; net profit reaches ₹11.13 lakh in Year 5.</a:t>
            </a:r>
            <a:endParaRPr lang="en-US" sz="1400" dirty="0"/>
          </a:p>
        </p:txBody>
      </p:sp>
      <p:sp>
        <p:nvSpPr>
          <p:cNvPr id="8" name="Text 4"/>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12_Income_Statement (₹). Balance sheet balances in every year (14_Balance_Sheet)</a:t>
            </a:r>
            <a:endParaRPr lang="en-US" sz="1000" dirty="0"/>
          </a:p>
        </p:txBody>
      </p:sp>
      <p:sp>
        <p:nvSpPr>
          <p:cNvPr id="9" name="Text 5"/>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NPV, IRR and payback</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Project free cash flow, discounted at a 13.29% WACC, clears the hurdle but narrowly</a:t>
            </a:r>
            <a:endParaRPr lang="en-US" sz="1500" dirty="0"/>
          </a:p>
        </p:txBody>
      </p:sp>
      <p:sp>
        <p:nvSpPr>
          <p:cNvPr id="4" name="Shape 2"/>
          <p:cNvSpPr/>
          <p:nvPr/>
        </p:nvSpPr>
        <p:spPr>
          <a:xfrm>
            <a:off x="457200" y="1554480"/>
            <a:ext cx="2651760" cy="1234440"/>
          </a:xfrm>
          <a:prstGeom prst="roundRect">
            <a:avLst>
              <a:gd name="adj" fmla="val 5926"/>
            </a:avLst>
          </a:prstGeom>
          <a:solidFill>
            <a:srgbClr val="F4EFEA"/>
          </a:solidFill>
          <a:ln/>
        </p:spPr>
      </p:sp>
      <p:sp>
        <p:nvSpPr>
          <p:cNvPr id="5" name="Text 3"/>
          <p:cNvSpPr txBox="1"/>
          <p:nvPr/>
        </p:nvSpPr>
        <p:spPr>
          <a:xfrm>
            <a:off x="640080" y="1664208"/>
            <a:ext cx="2286000" cy="678942"/>
          </a:xfrm>
          <a:prstGeom prst="rect">
            <a:avLst/>
          </a:prstGeom>
          <a:noFill/>
          <a:ln/>
        </p:spPr>
        <p:txBody>
          <a:bodyPr wrap="square" lIns="0" tIns="0" rIns="0" bIns="0" rtlCol="0" anchor="b"/>
          <a:lstStyle/>
          <a:p>
            <a:pPr indent="0" marL="0">
              <a:buNone/>
            </a:pPr>
            <a:r>
              <a:rPr lang="en-US" sz="2800" b="1" dirty="0">
                <a:solidFill>
                  <a:srgbClr val="2E7D4F"/>
                </a:solidFill>
                <a:latin typeface="Cambria" pitchFamily="34" charset="0"/>
                <a:ea typeface="Cambria" pitchFamily="34" charset="-122"/>
                <a:cs typeface="Cambria" pitchFamily="34" charset="-120"/>
              </a:rPr>
              <a:t>₹2.03 lakh</a:t>
            </a:r>
            <a:endParaRPr lang="en-US" sz="2800" dirty="0"/>
          </a:p>
        </p:txBody>
      </p:sp>
      <p:sp>
        <p:nvSpPr>
          <p:cNvPr id="6" name="Text 4"/>
          <p:cNvSpPr txBox="1"/>
          <p:nvPr/>
        </p:nvSpPr>
        <p:spPr>
          <a:xfrm>
            <a:off x="640080" y="2319833"/>
            <a:ext cx="2286000" cy="395021"/>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NPV: value created</a:t>
            </a:r>
            <a:endParaRPr lang="en-US" sz="1250" dirty="0"/>
          </a:p>
        </p:txBody>
      </p:sp>
      <p:sp>
        <p:nvSpPr>
          <p:cNvPr id="7" name="Shape 5"/>
          <p:cNvSpPr/>
          <p:nvPr/>
        </p:nvSpPr>
        <p:spPr>
          <a:xfrm>
            <a:off x="3328416" y="1554480"/>
            <a:ext cx="2651760" cy="1234440"/>
          </a:xfrm>
          <a:prstGeom prst="roundRect">
            <a:avLst>
              <a:gd name="adj" fmla="val 5926"/>
            </a:avLst>
          </a:prstGeom>
          <a:solidFill>
            <a:srgbClr val="F4EFEA"/>
          </a:solidFill>
          <a:ln/>
        </p:spPr>
      </p:sp>
      <p:sp>
        <p:nvSpPr>
          <p:cNvPr id="8" name="Text 6"/>
          <p:cNvSpPr txBox="1"/>
          <p:nvPr/>
        </p:nvSpPr>
        <p:spPr>
          <a:xfrm>
            <a:off x="3511296" y="1664208"/>
            <a:ext cx="2286000" cy="678942"/>
          </a:xfrm>
          <a:prstGeom prst="rect">
            <a:avLst/>
          </a:prstGeom>
          <a:noFill/>
          <a:ln/>
        </p:spPr>
        <p:txBody>
          <a:bodyPr wrap="square" lIns="0" tIns="0" rIns="0" bIns="0" rtlCol="0" anchor="b"/>
          <a:lstStyle/>
          <a:p>
            <a:pPr indent="0" marL="0">
              <a:buNone/>
            </a:pPr>
            <a:r>
              <a:rPr lang="en-US" sz="2800" b="1" dirty="0">
                <a:solidFill>
                  <a:srgbClr val="2B1B14"/>
                </a:solidFill>
                <a:latin typeface="Cambria" pitchFamily="34" charset="0"/>
                <a:ea typeface="Cambria" pitchFamily="34" charset="-122"/>
                <a:cs typeface="Cambria" pitchFamily="34" charset="-120"/>
              </a:rPr>
              <a:t>15.3%</a:t>
            </a:r>
            <a:endParaRPr lang="en-US" sz="2800" dirty="0"/>
          </a:p>
        </p:txBody>
      </p:sp>
      <p:sp>
        <p:nvSpPr>
          <p:cNvPr id="9" name="Text 7"/>
          <p:cNvSpPr txBox="1"/>
          <p:nvPr/>
        </p:nvSpPr>
        <p:spPr>
          <a:xfrm>
            <a:off x="3511296" y="2319833"/>
            <a:ext cx="2286000" cy="395021"/>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IRR vs 13.3% required return</a:t>
            </a:r>
            <a:endParaRPr lang="en-US" sz="1250" dirty="0"/>
          </a:p>
        </p:txBody>
      </p:sp>
      <p:sp>
        <p:nvSpPr>
          <p:cNvPr id="10" name="Shape 8"/>
          <p:cNvSpPr/>
          <p:nvPr/>
        </p:nvSpPr>
        <p:spPr>
          <a:xfrm>
            <a:off x="6199632" y="1554480"/>
            <a:ext cx="2651760" cy="1234440"/>
          </a:xfrm>
          <a:prstGeom prst="roundRect">
            <a:avLst>
              <a:gd name="adj" fmla="val 5926"/>
            </a:avLst>
          </a:prstGeom>
          <a:solidFill>
            <a:srgbClr val="F4EFEA"/>
          </a:solidFill>
          <a:ln/>
        </p:spPr>
      </p:sp>
      <p:sp>
        <p:nvSpPr>
          <p:cNvPr id="11" name="Text 9"/>
          <p:cNvSpPr txBox="1"/>
          <p:nvPr/>
        </p:nvSpPr>
        <p:spPr>
          <a:xfrm>
            <a:off x="6382512" y="1664208"/>
            <a:ext cx="2286000" cy="678942"/>
          </a:xfrm>
          <a:prstGeom prst="rect">
            <a:avLst/>
          </a:prstGeom>
          <a:noFill/>
          <a:ln/>
        </p:spPr>
        <p:txBody>
          <a:bodyPr wrap="square" lIns="0" tIns="0" rIns="0" bIns="0" rtlCol="0" anchor="b"/>
          <a:lstStyle/>
          <a:p>
            <a:pPr indent="0" marL="0">
              <a:buNone/>
            </a:pPr>
            <a:r>
              <a:rPr lang="en-US" sz="2800" b="1" dirty="0">
                <a:solidFill>
                  <a:srgbClr val="2B1B14"/>
                </a:solidFill>
                <a:latin typeface="Cambria" pitchFamily="34" charset="0"/>
                <a:ea typeface="Cambria" pitchFamily="34" charset="-122"/>
                <a:cs typeface="Cambria" pitchFamily="34" charset="-120"/>
              </a:rPr>
              <a:t>4.1 years</a:t>
            </a:r>
            <a:endParaRPr lang="en-US" sz="2800" dirty="0"/>
          </a:p>
        </p:txBody>
      </p:sp>
      <p:sp>
        <p:nvSpPr>
          <p:cNvPr id="12" name="Text 10"/>
          <p:cNvSpPr txBox="1"/>
          <p:nvPr/>
        </p:nvSpPr>
        <p:spPr>
          <a:xfrm>
            <a:off x="6382512" y="2319833"/>
            <a:ext cx="2286000" cy="395021"/>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Payback within a 5-year horizon</a:t>
            </a:r>
            <a:endParaRPr lang="en-US" sz="1250" dirty="0"/>
          </a:p>
        </p:txBody>
      </p:sp>
      <p:sp>
        <p:nvSpPr>
          <p:cNvPr id="13" name="Shape 11"/>
          <p:cNvSpPr/>
          <p:nvPr/>
        </p:nvSpPr>
        <p:spPr>
          <a:xfrm>
            <a:off x="9070848" y="1554480"/>
            <a:ext cx="2660904" cy="1234440"/>
          </a:xfrm>
          <a:prstGeom prst="roundRect">
            <a:avLst>
              <a:gd name="adj" fmla="val 5926"/>
            </a:avLst>
          </a:prstGeom>
          <a:solidFill>
            <a:srgbClr val="F4EFEA"/>
          </a:solidFill>
          <a:ln/>
        </p:spPr>
      </p:sp>
      <p:sp>
        <p:nvSpPr>
          <p:cNvPr id="14" name="Text 12"/>
          <p:cNvSpPr txBox="1"/>
          <p:nvPr/>
        </p:nvSpPr>
        <p:spPr>
          <a:xfrm>
            <a:off x="9253728" y="1664208"/>
            <a:ext cx="2295144" cy="678942"/>
          </a:xfrm>
          <a:prstGeom prst="rect">
            <a:avLst/>
          </a:prstGeom>
          <a:noFill/>
          <a:ln/>
        </p:spPr>
        <p:txBody>
          <a:bodyPr wrap="square" lIns="0" tIns="0" rIns="0" bIns="0" rtlCol="0" anchor="b"/>
          <a:lstStyle/>
          <a:p>
            <a:pPr indent="0" marL="0">
              <a:buNone/>
            </a:pPr>
            <a:r>
              <a:rPr lang="en-US" sz="2800" b="1" dirty="0">
                <a:solidFill>
                  <a:srgbClr val="2B1B14"/>
                </a:solidFill>
                <a:latin typeface="Cambria" pitchFamily="34" charset="0"/>
                <a:ea typeface="Cambria" pitchFamily="34" charset="-122"/>
                <a:cs typeface="Cambria" pitchFamily="34" charset="-120"/>
              </a:rPr>
              <a:t>1.07</a:t>
            </a:r>
            <a:endParaRPr lang="en-US" sz="2800" dirty="0"/>
          </a:p>
        </p:txBody>
      </p:sp>
      <p:sp>
        <p:nvSpPr>
          <p:cNvPr id="15" name="Text 13"/>
          <p:cNvSpPr txBox="1"/>
          <p:nvPr/>
        </p:nvSpPr>
        <p:spPr>
          <a:xfrm>
            <a:off x="9253728" y="2319833"/>
            <a:ext cx="2295144" cy="395021"/>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Profitability index</a:t>
            </a:r>
            <a:endParaRPr lang="en-US" sz="1250" dirty="0"/>
          </a:p>
        </p:txBody>
      </p:sp>
      <p:pic>
        <p:nvPicPr>
          <p:cNvPr id="16" name="Image 0" descr="snips/s16.png">    </p:cNvPr>
          <p:cNvPicPr>
            <a:picLocks noChangeAspect="1"/>
          </p:cNvPicPr>
          <p:nvPr/>
        </p:nvPicPr>
        <p:blipFill>
          <a:blip r:embed="rId1"/>
          <a:stretch>
            <a:fillRect/>
          </a:stretch>
        </p:blipFill>
        <p:spPr>
          <a:xfrm>
            <a:off x="457200" y="3063240"/>
            <a:ext cx="7040880" cy="2966418"/>
          </a:xfrm>
          <a:prstGeom prst="rect">
            <a:avLst/>
          </a:prstGeom>
          <a:effectLst>
            <a:outerShdw sx="100000" sy="100000" kx="0" ky="0" algn="bl" rotWithShape="0" blurRad="76200" dist="25400" dir="5400000">
              <a:srgbClr val="000000">
                <a:alpha val="18000"/>
              </a:srgbClr>
            </a:outerShdw>
          </a:effectLst>
        </p:spPr>
      </p:pic>
      <p:graphicFrame>
        <p:nvGraphicFramePr>
          <p:cNvPr id="17" name="Chart 0" descr=""/>
          <p:cNvGraphicFramePr/>
          <p:nvPr/>
        </p:nvGraphicFramePr>
        <p:xfrm>
          <a:off x="7726680" y="2971800"/>
          <a:ext cx="4023360" cy="324612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16_Appraisal. NPV checked two ways (NPV function and sum of PVs)</a:t>
            </a:r>
            <a:endParaRPr lang="en-US" sz="1000" dirty="0"/>
          </a:p>
        </p:txBody>
      </p:sp>
      <p:sp>
        <p:nvSpPr>
          <p:cNvPr id="19" name="Text 15"/>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Break-even and margin of safety</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Year 1 needs 73 customers a day; the plan assumes 75</a:t>
            </a:r>
            <a:endParaRPr lang="en-US" sz="1500" dirty="0"/>
          </a:p>
        </p:txBody>
      </p:sp>
      <p:pic>
        <p:nvPicPr>
          <p:cNvPr id="4" name="Image 0" descr="snips/s17.png">    </p:cNvPr>
          <p:cNvPicPr>
            <a:picLocks noChangeAspect="1"/>
          </p:cNvPicPr>
          <p:nvPr/>
        </p:nvPicPr>
        <p:blipFill>
          <a:blip r:embed="rId1"/>
          <a:stretch>
            <a:fillRect/>
          </a:stretch>
        </p:blipFill>
        <p:spPr>
          <a:xfrm>
            <a:off x="457200" y="1554480"/>
            <a:ext cx="4806755" cy="4480560"/>
          </a:xfrm>
          <a:prstGeom prst="rect">
            <a:avLst/>
          </a:prstGeom>
          <a:effectLst>
            <a:outerShdw sx="100000" sy="100000" kx="0" ky="0" algn="bl" rotWithShape="0" blurRad="76200" dist="25400" dir="5400000">
              <a:srgbClr val="000000">
                <a:alpha val="18000"/>
              </a:srgbClr>
            </a:outerShdw>
          </a:effectLst>
        </p:spPr>
      </p:pic>
      <p:graphicFrame>
        <p:nvGraphicFramePr>
          <p:cNvPr id="5" name="Chart 0" descr=""/>
          <p:cNvGraphicFramePr/>
          <p:nvPr/>
        </p:nvGraphicFramePr>
        <p:xfrm>
          <a:off x="5486400" y="1463040"/>
          <a:ext cx="6263640" cy="35661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0" y="5166360"/>
            <a:ext cx="2002536" cy="1005840"/>
          </a:xfrm>
          <a:prstGeom prst="roundRect">
            <a:avLst>
              <a:gd name="adj" fmla="val 7273"/>
            </a:avLst>
          </a:prstGeom>
          <a:solidFill>
            <a:srgbClr val="F4EFEA"/>
          </a:solidFill>
          <a:ln/>
        </p:spPr>
      </p:sp>
      <p:sp>
        <p:nvSpPr>
          <p:cNvPr id="7" name="Text 3"/>
          <p:cNvSpPr txBox="1"/>
          <p:nvPr/>
        </p:nvSpPr>
        <p:spPr>
          <a:xfrm>
            <a:off x="5669280" y="5276088"/>
            <a:ext cx="1636776" cy="553212"/>
          </a:xfrm>
          <a:prstGeom prst="rect">
            <a:avLst/>
          </a:prstGeom>
          <a:noFill/>
          <a:ln/>
        </p:spPr>
        <p:txBody>
          <a:bodyPr wrap="square" lIns="0" tIns="0" rIns="0" bIns="0" rtlCol="0" anchor="b"/>
          <a:lstStyle/>
          <a:p>
            <a:pPr indent="0" marL="0">
              <a:buNone/>
            </a:pPr>
            <a:r>
              <a:rPr lang="en-US" sz="2800" b="1" dirty="0">
                <a:solidFill>
                  <a:srgbClr val="B23A3A"/>
                </a:solidFill>
                <a:latin typeface="Cambria" pitchFamily="34" charset="0"/>
                <a:ea typeface="Cambria" pitchFamily="34" charset="-122"/>
                <a:cs typeface="Cambria" pitchFamily="34" charset="-120"/>
              </a:rPr>
              <a:t>2.8%</a:t>
            </a:r>
            <a:endParaRPr lang="en-US" sz="2800" dirty="0"/>
          </a:p>
        </p:txBody>
      </p:sp>
      <p:sp>
        <p:nvSpPr>
          <p:cNvPr id="8" name="Text 4"/>
          <p:cNvSpPr txBox="1"/>
          <p:nvPr/>
        </p:nvSpPr>
        <p:spPr>
          <a:xfrm>
            <a:off x="5669280" y="5789981"/>
            <a:ext cx="1636776" cy="321869"/>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Margin of safety, Year 1</a:t>
            </a:r>
            <a:endParaRPr lang="en-US" sz="1250" dirty="0"/>
          </a:p>
        </p:txBody>
      </p:sp>
      <p:sp>
        <p:nvSpPr>
          <p:cNvPr id="9" name="Shape 5"/>
          <p:cNvSpPr/>
          <p:nvPr/>
        </p:nvSpPr>
        <p:spPr>
          <a:xfrm>
            <a:off x="7616952" y="5166360"/>
            <a:ext cx="2002536" cy="1005840"/>
          </a:xfrm>
          <a:prstGeom prst="roundRect">
            <a:avLst>
              <a:gd name="adj" fmla="val 7273"/>
            </a:avLst>
          </a:prstGeom>
          <a:solidFill>
            <a:srgbClr val="F4EFEA"/>
          </a:solidFill>
          <a:ln/>
        </p:spPr>
      </p:sp>
      <p:sp>
        <p:nvSpPr>
          <p:cNvPr id="10" name="Text 6"/>
          <p:cNvSpPr txBox="1"/>
          <p:nvPr/>
        </p:nvSpPr>
        <p:spPr>
          <a:xfrm>
            <a:off x="7799832" y="5276088"/>
            <a:ext cx="1636776" cy="553212"/>
          </a:xfrm>
          <a:prstGeom prst="rect">
            <a:avLst/>
          </a:prstGeom>
          <a:noFill/>
          <a:ln/>
        </p:spPr>
        <p:txBody>
          <a:bodyPr wrap="square" lIns="0" tIns="0" rIns="0" bIns="0" rtlCol="0" anchor="b"/>
          <a:lstStyle/>
          <a:p>
            <a:pPr indent="0" marL="0">
              <a:buNone/>
            </a:pPr>
            <a:r>
              <a:rPr lang="en-US" sz="2800" b="1" dirty="0">
                <a:solidFill>
                  <a:srgbClr val="2E7D4F"/>
                </a:solidFill>
                <a:latin typeface="Cambria" pitchFamily="34" charset="0"/>
                <a:ea typeface="Cambria" pitchFamily="34" charset="-122"/>
                <a:cs typeface="Cambria" pitchFamily="34" charset="-120"/>
              </a:rPr>
              <a:t>18.2%</a:t>
            </a:r>
            <a:endParaRPr lang="en-US" sz="2800" dirty="0"/>
          </a:p>
        </p:txBody>
      </p:sp>
      <p:sp>
        <p:nvSpPr>
          <p:cNvPr id="11" name="Text 7"/>
          <p:cNvSpPr txBox="1"/>
          <p:nvPr/>
        </p:nvSpPr>
        <p:spPr>
          <a:xfrm>
            <a:off x="7799832" y="5789981"/>
            <a:ext cx="1636776" cy="321869"/>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Year 2</a:t>
            </a:r>
            <a:endParaRPr lang="en-US" sz="1250" dirty="0"/>
          </a:p>
        </p:txBody>
      </p:sp>
      <p:sp>
        <p:nvSpPr>
          <p:cNvPr id="12" name="Shape 8"/>
          <p:cNvSpPr/>
          <p:nvPr/>
        </p:nvSpPr>
        <p:spPr>
          <a:xfrm>
            <a:off x="9747504" y="5166360"/>
            <a:ext cx="2002536" cy="1005840"/>
          </a:xfrm>
          <a:prstGeom prst="roundRect">
            <a:avLst>
              <a:gd name="adj" fmla="val 7273"/>
            </a:avLst>
          </a:prstGeom>
          <a:solidFill>
            <a:srgbClr val="F4EFEA"/>
          </a:solidFill>
          <a:ln/>
        </p:spPr>
      </p:sp>
      <p:sp>
        <p:nvSpPr>
          <p:cNvPr id="13" name="Text 9"/>
          <p:cNvSpPr txBox="1"/>
          <p:nvPr/>
        </p:nvSpPr>
        <p:spPr>
          <a:xfrm>
            <a:off x="9930384" y="5276088"/>
            <a:ext cx="1636776" cy="553212"/>
          </a:xfrm>
          <a:prstGeom prst="rect">
            <a:avLst/>
          </a:prstGeom>
          <a:noFill/>
          <a:ln/>
        </p:spPr>
        <p:txBody>
          <a:bodyPr wrap="square" lIns="0" tIns="0" rIns="0" bIns="0" rtlCol="0" anchor="b"/>
          <a:lstStyle/>
          <a:p>
            <a:pPr indent="0" marL="0">
              <a:buNone/>
            </a:pPr>
            <a:r>
              <a:rPr lang="en-US" sz="2800" b="1" dirty="0">
                <a:solidFill>
                  <a:srgbClr val="2E7D4F"/>
                </a:solidFill>
                <a:latin typeface="Cambria" pitchFamily="34" charset="0"/>
                <a:ea typeface="Cambria" pitchFamily="34" charset="-122"/>
                <a:cs typeface="Cambria" pitchFamily="34" charset="-120"/>
              </a:rPr>
              <a:t>37.1%</a:t>
            </a:r>
            <a:endParaRPr lang="en-US" sz="2800" dirty="0"/>
          </a:p>
        </p:txBody>
      </p:sp>
      <p:sp>
        <p:nvSpPr>
          <p:cNvPr id="14" name="Text 10"/>
          <p:cNvSpPr txBox="1"/>
          <p:nvPr/>
        </p:nvSpPr>
        <p:spPr>
          <a:xfrm>
            <a:off x="9930384" y="5789981"/>
            <a:ext cx="1636776" cy="321869"/>
          </a:xfrm>
          <a:prstGeom prst="rect">
            <a:avLst/>
          </a:prstGeom>
          <a:noFill/>
          <a:ln/>
        </p:spPr>
        <p:txBody>
          <a:bodyPr wrap="square" lIns="0" tIns="0" rIns="0" bIns="0" rtlCol="0" anchor="t"/>
          <a:lstStyle/>
          <a:p>
            <a:pPr indent="0" marL="0">
              <a:buNone/>
            </a:pPr>
            <a:r>
              <a:rPr lang="en-US" sz="1250" dirty="0">
                <a:solidFill>
                  <a:srgbClr val="6B625C"/>
                </a:solidFill>
                <a:latin typeface="Calibri" pitchFamily="34" charset="0"/>
                <a:ea typeface="Calibri" pitchFamily="34" charset="-122"/>
                <a:cs typeface="Calibri" pitchFamily="34" charset="-120"/>
              </a:rPr>
              <a:t>Year 5</a:t>
            </a:r>
            <a:endParaRPr lang="en-US" sz="1250" dirty="0"/>
          </a:p>
        </p:txBody>
      </p:sp>
      <p:sp>
        <p:nvSpPr>
          <p:cNvPr id="15" name="Text 11"/>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17_Break_Even (EBITDA level)</a:t>
            </a:r>
            <a:endParaRPr lang="en-US" sz="1000" dirty="0"/>
          </a:p>
        </p:txBody>
      </p:sp>
      <p:sp>
        <p:nvSpPr>
          <p:cNvPr id="16" name="Text 12"/>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Scenarios, sensitivity and the biggest risk</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The downside is much deeper than the base-case gain</a:t>
            </a:r>
            <a:endParaRPr lang="en-US" sz="1500" dirty="0"/>
          </a:p>
        </p:txBody>
      </p:sp>
      <p:sp>
        <p:nvSpPr>
          <p:cNvPr id="4" name="Text 2"/>
          <p:cNvSpPr txBox="1"/>
          <p:nvPr/>
        </p:nvSpPr>
        <p:spPr>
          <a:xfrm>
            <a:off x="457200" y="1508760"/>
            <a:ext cx="4572000" cy="320040"/>
          </a:xfrm>
          <a:prstGeom prst="rect">
            <a:avLst/>
          </a:prstGeom>
          <a:noFill/>
          <a:ln/>
        </p:spPr>
        <p:txBody>
          <a:bodyPr wrap="square" lIns="0" tIns="0" rIns="0" bIns="0" rtlCol="0" anchor="ctr"/>
          <a:lstStyle/>
          <a:p>
            <a:pPr indent="0" marL="0">
              <a:buNone/>
            </a:pPr>
            <a:r>
              <a:rPr lang="en-US" sz="1500" b="1" dirty="0">
                <a:solidFill>
                  <a:srgbClr val="2B1B14"/>
                </a:solidFill>
                <a:latin typeface="Cambria" pitchFamily="34" charset="0"/>
                <a:ea typeface="Cambria" pitchFamily="34" charset="-122"/>
                <a:cs typeface="Cambria" pitchFamily="34" charset="-120"/>
              </a:rPr>
              <a:t>Scenario analysis</a:t>
            </a:r>
            <a:endParaRPr lang="en-US" sz="1500" dirty="0"/>
          </a:p>
        </p:txBody>
      </p:sp>
      <p:pic>
        <p:nvPicPr>
          <p:cNvPr id="5" name="Image 0" descr="snips/s18.png">    </p:cNvPr>
          <p:cNvPicPr>
            <a:picLocks noChangeAspect="1"/>
          </p:cNvPicPr>
          <p:nvPr/>
        </p:nvPicPr>
        <p:blipFill>
          <a:blip r:embed="rId1"/>
          <a:stretch>
            <a:fillRect/>
          </a:stretch>
        </p:blipFill>
        <p:spPr>
          <a:xfrm>
            <a:off x="457200" y="1874520"/>
            <a:ext cx="6766560" cy="1348755"/>
          </a:xfrm>
          <a:prstGeom prst="rect">
            <a:avLst/>
          </a:prstGeom>
          <a:effectLst>
            <a:outerShdw sx="100000" sy="100000" kx="0" ky="0" algn="bl" rotWithShape="0" blurRad="76200" dist="25400" dir="5400000">
              <a:srgbClr val="000000">
                <a:alpha val="18000"/>
              </a:srgbClr>
            </a:outerShdw>
          </a:effectLst>
        </p:spPr>
      </p:pic>
      <p:sp>
        <p:nvSpPr>
          <p:cNvPr id="6" name="Text 3"/>
          <p:cNvSpPr txBox="1"/>
          <p:nvPr/>
        </p:nvSpPr>
        <p:spPr>
          <a:xfrm>
            <a:off x="457200" y="3474720"/>
            <a:ext cx="6400800" cy="320040"/>
          </a:xfrm>
          <a:prstGeom prst="rect">
            <a:avLst/>
          </a:prstGeom>
          <a:noFill/>
          <a:ln/>
        </p:spPr>
        <p:txBody>
          <a:bodyPr wrap="square" lIns="0" tIns="0" rIns="0" bIns="0" rtlCol="0" anchor="ctr"/>
          <a:lstStyle/>
          <a:p>
            <a:pPr indent="0" marL="0">
              <a:buNone/>
            </a:pPr>
            <a:r>
              <a:rPr lang="en-US" sz="1500" b="1" dirty="0">
                <a:solidFill>
                  <a:srgbClr val="2B1B14"/>
                </a:solidFill>
                <a:latin typeface="Cambria" pitchFamily="34" charset="0"/>
                <a:ea typeface="Cambria" pitchFamily="34" charset="-122"/>
                <a:cs typeface="Cambria" pitchFamily="34" charset="-120"/>
              </a:rPr>
              <a:t>Sensitivity of NPV (₹), one variable at a time</a:t>
            </a:r>
            <a:endParaRPr lang="en-US" sz="1500" dirty="0"/>
          </a:p>
        </p:txBody>
      </p:sp>
      <p:pic>
        <p:nvPicPr>
          <p:cNvPr id="7" name="Image 1" descr="snips/s19.png">    </p:cNvPr>
          <p:cNvPicPr>
            <a:picLocks noChangeAspect="1"/>
          </p:cNvPicPr>
          <p:nvPr/>
        </p:nvPicPr>
        <p:blipFill>
          <a:blip r:embed="rId2"/>
          <a:stretch>
            <a:fillRect/>
          </a:stretch>
        </p:blipFill>
        <p:spPr>
          <a:xfrm>
            <a:off x="457200" y="3840480"/>
            <a:ext cx="6766560" cy="2118603"/>
          </a:xfrm>
          <a:prstGeom prst="rect">
            <a:avLst/>
          </a:prstGeom>
          <a:effectLst>
            <a:outerShdw sx="100000" sy="100000" kx="0" ky="0" algn="bl" rotWithShape="0" blurRad="76200" dist="25400" dir="5400000">
              <a:srgbClr val="000000">
                <a:alpha val="18000"/>
              </a:srgbClr>
            </a:outerShdw>
          </a:effectLst>
        </p:spPr>
      </p:pic>
      <p:graphicFrame>
        <p:nvGraphicFramePr>
          <p:cNvPr id="8" name="Chart 0" descr=""/>
          <p:cNvGraphicFramePr/>
          <p:nvPr/>
        </p:nvGraphicFramePr>
        <p:xfrm>
          <a:off x="7498080" y="1417320"/>
          <a:ext cx="4251960" cy="3108960"/>
        </p:xfrm>
        <a:graphic xmlns:a="http://schemas.openxmlformats.org/drawingml/2006/main">
          <a:graphicData uri="http://schemas.openxmlformats.org/drawingml/2006/chart">
            <c:chart xmlns:c="http://schemas.openxmlformats.org/drawingml/2006/chart" r:id="rId3"/>
          </a:graphicData>
        </a:graphic>
      </p:graphicFrame>
      <p:sp>
        <p:nvSpPr>
          <p:cNvPr id="9" name="Shape 4"/>
          <p:cNvSpPr/>
          <p:nvPr/>
        </p:nvSpPr>
        <p:spPr>
          <a:xfrm>
            <a:off x="7498080" y="4663440"/>
            <a:ext cx="4251960" cy="1508760"/>
          </a:xfrm>
          <a:prstGeom prst="roundRect">
            <a:avLst>
              <a:gd name="adj" fmla="val 4848"/>
            </a:avLst>
          </a:prstGeom>
          <a:solidFill>
            <a:srgbClr val="2B1B14"/>
          </a:solidFill>
          <a:ln/>
        </p:spPr>
      </p:sp>
      <p:sp>
        <p:nvSpPr>
          <p:cNvPr id="10" name="Text 5"/>
          <p:cNvSpPr txBox="1"/>
          <p:nvPr/>
        </p:nvSpPr>
        <p:spPr>
          <a:xfrm>
            <a:off x="7680960" y="4709160"/>
            <a:ext cx="3931920" cy="1417320"/>
          </a:xfrm>
          <a:prstGeom prst="rect">
            <a:avLst/>
          </a:prstGeom>
          <a:noFill/>
          <a:ln/>
        </p:spPr>
        <p:txBody>
          <a:bodyPr wrap="square" lIns="0" tIns="0" rIns="0" bIns="0" rtlCol="0" anchor="ctr"/>
          <a:lstStyle/>
          <a:p>
            <a:pPr indent="0" marL="0">
              <a:spcAft>
                <a:spcPts val="400"/>
              </a:spcAft>
              <a:buNone/>
            </a:pPr>
            <a:r>
              <a:rPr lang="en-US" sz="1500" b="1" dirty="0">
                <a:solidFill>
                  <a:srgbClr val="C8873A"/>
                </a:solidFill>
                <a:latin typeface="Calibri" pitchFamily="34" charset="0"/>
                <a:ea typeface="Calibri" pitchFamily="34" charset="-122"/>
                <a:cs typeface="Calibri" pitchFamily="34" charset="-120"/>
              </a:rPr>
              <a:t>Biggest risk: selling price</a:t>
            </a:r>
            <a:endParaRPr lang="en-US" sz="1500" dirty="0"/>
          </a:p>
          <a:p>
            <a:pPr indent="0" marL="0">
              <a:spcAft>
                <a:spcPts val="400"/>
              </a:spcAft>
              <a:buNone/>
            </a:pPr>
            <a:r>
              <a:rPr lang="en-US" sz="1350" dirty="0">
                <a:solidFill>
                  <a:srgbClr val="FFFFFF"/>
                </a:solidFill>
                <a:latin typeface="Calibri" pitchFamily="34" charset="0"/>
                <a:ea typeface="Calibri" pitchFamily="34" charset="-122"/>
                <a:cs typeface="Calibri" pitchFamily="34" charset="-120"/>
              </a:rPr>
              <a:t>An average bill just 1.2% below plan, or 2.0% fewer customers, turns the NPV negative.</a:t>
            </a:r>
            <a:endParaRPr lang="en-US" sz="1500" dirty="0"/>
          </a:p>
        </p:txBody>
      </p:sp>
      <p:sp>
        <p:nvSpPr>
          <p:cNvPr id="11" name="Text 6"/>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snippets: 18_Scenarios and 19_Sensitivity (₹)</a:t>
            </a:r>
            <a:endParaRPr lang="en-US" sz="1000" dirty="0"/>
          </a:p>
        </p:txBody>
      </p:sp>
      <p:sp>
        <p:nvSpPr>
          <p:cNvPr id="12" name="Text 7"/>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Investment recommendation</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Every number below is a live link in the investment committee dashboard</a:t>
            </a:r>
            <a:endParaRPr lang="en-US" sz="1500" dirty="0"/>
          </a:p>
        </p:txBody>
      </p:sp>
      <p:pic>
        <p:nvPicPr>
          <p:cNvPr id="4" name="Image 0" descr="snips/s20.png">    </p:cNvPr>
          <p:cNvPicPr>
            <a:picLocks noChangeAspect="1"/>
          </p:cNvPicPr>
          <p:nvPr/>
        </p:nvPicPr>
        <p:blipFill>
          <a:blip r:embed="rId1"/>
          <a:stretch>
            <a:fillRect/>
          </a:stretch>
        </p:blipFill>
        <p:spPr>
          <a:xfrm>
            <a:off x="457200" y="1554480"/>
            <a:ext cx="5656707" cy="4617720"/>
          </a:xfrm>
          <a:prstGeom prst="rect">
            <a:avLst/>
          </a:prstGeom>
          <a:effectLst>
            <a:outerShdw sx="100000" sy="100000" kx="0" ky="0" algn="bl" rotWithShape="0" blurRad="76200" dist="25400" dir="5400000">
              <a:srgbClr val="000000">
                <a:alpha val="18000"/>
              </a:srgbClr>
            </a:outerShdw>
          </a:effectLst>
        </p:spPr>
      </p:pic>
      <p:sp>
        <p:nvSpPr>
          <p:cNvPr id="5" name="Shape 2"/>
          <p:cNvSpPr/>
          <p:nvPr/>
        </p:nvSpPr>
        <p:spPr>
          <a:xfrm>
            <a:off x="6400800" y="1554480"/>
            <a:ext cx="5330952" cy="1188720"/>
          </a:xfrm>
          <a:prstGeom prst="roundRect">
            <a:avLst>
              <a:gd name="adj" fmla="val 7692"/>
            </a:avLst>
          </a:prstGeom>
          <a:solidFill>
            <a:srgbClr val="2B1B14"/>
          </a:solidFill>
          <a:ln/>
        </p:spPr>
      </p:sp>
      <p:sp>
        <p:nvSpPr>
          <p:cNvPr id="6" name="Text 3"/>
          <p:cNvSpPr txBox="1"/>
          <p:nvPr/>
        </p:nvSpPr>
        <p:spPr>
          <a:xfrm>
            <a:off x="6675120" y="1600200"/>
            <a:ext cx="4846320" cy="1097280"/>
          </a:xfrm>
          <a:prstGeom prst="rect">
            <a:avLst/>
          </a:prstGeom>
          <a:noFill/>
          <a:ln/>
        </p:spPr>
        <p:txBody>
          <a:bodyPr wrap="square" lIns="0" tIns="0" rIns="0" bIns="0" rtlCol="0" anchor="ctr"/>
          <a:lstStyle/>
          <a:p>
            <a:pPr indent="0" marL="0">
              <a:buNone/>
            </a:pPr>
            <a:r>
              <a:rPr lang="en-US" sz="1200" b="1" spc="300" kern="0" dirty="0">
                <a:solidFill>
                  <a:srgbClr val="C8873A"/>
                </a:solidFill>
                <a:latin typeface="Calibri" pitchFamily="34" charset="0"/>
                <a:ea typeface="Calibri" pitchFamily="34" charset="-122"/>
                <a:cs typeface="Calibri" pitchFamily="34" charset="-120"/>
              </a:rPr>
              <a:t>DECISION</a:t>
            </a:r>
            <a:endParaRPr lang="en-US" sz="1200" dirty="0"/>
          </a:p>
          <a:p>
            <a:pPr indent="0" marL="0">
              <a:buNone/>
            </a:pPr>
            <a:r>
              <a:rPr lang="en-US" sz="2800" b="1" dirty="0">
                <a:solidFill>
                  <a:srgbClr val="FFFFFF"/>
                </a:solidFill>
                <a:latin typeface="Cambria" pitchFamily="34" charset="0"/>
                <a:ea typeface="Cambria" pitchFamily="34" charset="-122"/>
                <a:cs typeface="Cambria" pitchFamily="34" charset="-120"/>
              </a:rPr>
              <a:t>Invest with Conditions</a:t>
            </a:r>
            <a:endParaRPr lang="en-US" sz="1200" dirty="0"/>
          </a:p>
        </p:txBody>
      </p:sp>
      <p:sp>
        <p:nvSpPr>
          <p:cNvPr id="7" name="Shape 4"/>
          <p:cNvSpPr/>
          <p:nvPr/>
        </p:nvSpPr>
        <p:spPr>
          <a:xfrm>
            <a:off x="6400800" y="2926080"/>
            <a:ext cx="2560320" cy="3246120"/>
          </a:xfrm>
          <a:prstGeom prst="roundRect">
            <a:avLst>
              <a:gd name="adj" fmla="val 2857"/>
            </a:avLst>
          </a:prstGeom>
          <a:solidFill>
            <a:srgbClr val="F4EFEA"/>
          </a:solidFill>
          <a:ln/>
        </p:spPr>
      </p:sp>
      <p:sp>
        <p:nvSpPr>
          <p:cNvPr id="8" name="Text 5"/>
          <p:cNvSpPr txBox="1"/>
          <p:nvPr/>
        </p:nvSpPr>
        <p:spPr>
          <a:xfrm>
            <a:off x="6583680" y="3017520"/>
            <a:ext cx="2240280" cy="548640"/>
          </a:xfrm>
          <a:prstGeom prst="rect">
            <a:avLst/>
          </a:prstGeom>
          <a:noFill/>
          <a:ln/>
        </p:spPr>
        <p:txBody>
          <a:bodyPr wrap="square" lIns="0" tIns="0" rIns="0" bIns="0" rtlCol="0" anchor="ctr"/>
          <a:lstStyle/>
          <a:p>
            <a:pPr indent="0" marL="0">
              <a:buNone/>
            </a:pPr>
            <a:r>
              <a:rPr lang="en-US" sz="1500" b="1" dirty="0">
                <a:solidFill>
                  <a:srgbClr val="2B1B14"/>
                </a:solidFill>
                <a:latin typeface="Cambria" pitchFamily="34" charset="0"/>
                <a:ea typeface="Cambria" pitchFamily="34" charset="-122"/>
                <a:cs typeface="Cambria" pitchFamily="34" charset="-120"/>
              </a:rPr>
              <a:t>Why not a plain "Invest"</a:t>
            </a:r>
            <a:endParaRPr lang="en-US" sz="1500" dirty="0"/>
          </a:p>
        </p:txBody>
      </p:sp>
      <p:sp>
        <p:nvSpPr>
          <p:cNvPr id="9" name="Text 6"/>
          <p:cNvSpPr txBox="1"/>
          <p:nvPr/>
        </p:nvSpPr>
        <p:spPr>
          <a:xfrm>
            <a:off x="6537960" y="3657600"/>
            <a:ext cx="2286000" cy="24688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Thin cushion: PI 1.07, IRR only 2 points above WACC</a:t>
            </a:r>
            <a:endParaRPr lang="en-US" sz="1500" dirty="0"/>
          </a:p>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Pessimistic NPV is (₹48.92 lakh)</a:t>
            </a:r>
            <a:endParaRPr lang="en-US" sz="1500" dirty="0"/>
          </a:p>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Rent, capex, bill and footfall are estimates, not quotes</a:t>
            </a:r>
            <a:endParaRPr lang="en-US" sz="1500" dirty="0"/>
          </a:p>
        </p:txBody>
      </p:sp>
      <p:sp>
        <p:nvSpPr>
          <p:cNvPr id="10" name="Shape 7"/>
          <p:cNvSpPr/>
          <p:nvPr/>
        </p:nvSpPr>
        <p:spPr>
          <a:xfrm>
            <a:off x="9171432" y="2926080"/>
            <a:ext cx="2560320" cy="3246120"/>
          </a:xfrm>
          <a:prstGeom prst="roundRect">
            <a:avLst>
              <a:gd name="adj" fmla="val 2857"/>
            </a:avLst>
          </a:prstGeom>
          <a:solidFill>
            <a:srgbClr val="F4EFEA"/>
          </a:solidFill>
          <a:ln/>
        </p:spPr>
      </p:sp>
      <p:sp>
        <p:nvSpPr>
          <p:cNvPr id="11" name="Text 8"/>
          <p:cNvSpPr txBox="1"/>
          <p:nvPr/>
        </p:nvSpPr>
        <p:spPr>
          <a:xfrm>
            <a:off x="9354312" y="3017520"/>
            <a:ext cx="2240280" cy="548640"/>
          </a:xfrm>
          <a:prstGeom prst="rect">
            <a:avLst/>
          </a:prstGeom>
          <a:noFill/>
          <a:ln/>
        </p:spPr>
        <p:txBody>
          <a:bodyPr wrap="square" lIns="0" tIns="0" rIns="0" bIns="0" rtlCol="0" anchor="ctr"/>
          <a:lstStyle/>
          <a:p>
            <a:pPr indent="0" marL="0">
              <a:buNone/>
            </a:pPr>
            <a:r>
              <a:rPr lang="en-US" sz="1500" b="1" dirty="0">
                <a:solidFill>
                  <a:srgbClr val="2B1B14"/>
                </a:solidFill>
                <a:latin typeface="Cambria" pitchFamily="34" charset="0"/>
                <a:ea typeface="Cambria" pitchFamily="34" charset="-122"/>
                <a:cs typeface="Cambria" pitchFamily="34" charset="-120"/>
              </a:rPr>
              <a:t>Why not "Do Not Invest"</a:t>
            </a:r>
            <a:endParaRPr lang="en-US" sz="1500" dirty="0"/>
          </a:p>
        </p:txBody>
      </p:sp>
      <p:sp>
        <p:nvSpPr>
          <p:cNvPr id="12" name="Text 9"/>
          <p:cNvSpPr txBox="1"/>
          <p:nvPr/>
        </p:nvSpPr>
        <p:spPr>
          <a:xfrm>
            <a:off x="9308592" y="3657600"/>
            <a:ext cx="2286000" cy="24688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NPV and IRR both clear the hurdle</a:t>
            </a:r>
            <a:endParaRPr lang="en-US" sz="1500" dirty="0"/>
          </a:p>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Café stays cash positive; loan repaid by Year 5</a:t>
            </a:r>
            <a:endParaRPr lang="en-US" sz="1500" dirty="0"/>
          </a:p>
          <a:p>
            <a:pPr marL="342900" indent="-342900">
              <a:spcAft>
                <a:spcPts val="500"/>
              </a:spcAft>
              <a:buSzPct val="100000"/>
              <a:buChar char="•"/>
            </a:pPr>
            <a:r>
              <a:rPr lang="en-US" sz="1500" dirty="0">
                <a:solidFill>
                  <a:srgbClr val="1F1A17"/>
                </a:solidFill>
                <a:latin typeface="Calibri" pitchFamily="34" charset="0"/>
                <a:ea typeface="Calibri" pitchFamily="34" charset="-122"/>
                <a:cs typeface="Calibri" pitchFamily="34" charset="-120"/>
              </a:rPr>
              <a:t>Margins scale strongly; optimistic NPV ₹46.34 lakh</a:t>
            </a:r>
            <a:endParaRPr lang="en-US" sz="1500" dirty="0"/>
          </a:p>
        </p:txBody>
      </p:sp>
      <p:sp>
        <p:nvSpPr>
          <p:cNvPr id="13" name="Text 10"/>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Excel snippet: 20_Dashboard (₹). Decision rule in 16_Appraisal</a:t>
            </a:r>
            <a:endParaRPr lang="en-US" sz="1000" dirty="0"/>
          </a:p>
        </p:txBody>
      </p:sp>
      <p:sp>
        <p:nvSpPr>
          <p:cNvPr id="14" name="Text 11"/>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778240" cy="685800"/>
          </a:xfrm>
          <a:prstGeom prst="rect">
            <a:avLst/>
          </a:prstGeom>
          <a:noFill/>
          <a:ln/>
        </p:spPr>
        <p:txBody>
          <a:bodyPr wrap="square" lIns="0" tIns="0" rIns="0" bIns="0" rtlCol="0" anchor="ctr"/>
          <a:lstStyle/>
          <a:p>
            <a:pPr indent="0" marL="0">
              <a:buNone/>
            </a:pPr>
            <a:r>
              <a:rPr lang="en-US" sz="3000" b="1" dirty="0">
                <a:solidFill>
                  <a:srgbClr val="2B1B14"/>
                </a:solidFill>
                <a:latin typeface="Cambria" pitchFamily="34" charset="0"/>
                <a:ea typeface="Cambria" pitchFamily="34" charset="-122"/>
                <a:cs typeface="Cambria" pitchFamily="34" charset="-120"/>
              </a:rPr>
              <a:t>Conditions before we commit the money</a:t>
            </a:r>
            <a:endParaRPr lang="en-US" sz="3000" dirty="0"/>
          </a:p>
        </p:txBody>
      </p:sp>
      <p:sp>
        <p:nvSpPr>
          <p:cNvPr id="3" name="Text 1"/>
          <p:cNvSpPr txBox="1"/>
          <p:nvPr/>
        </p:nvSpPr>
        <p:spPr>
          <a:xfrm>
            <a:off x="457200" y="987552"/>
            <a:ext cx="9144000" cy="365760"/>
          </a:xfrm>
          <a:prstGeom prst="rect">
            <a:avLst/>
          </a:prstGeom>
          <a:noFill/>
          <a:ln/>
        </p:spPr>
        <p:txBody>
          <a:bodyPr wrap="square" lIns="0" tIns="0" rIns="0" bIns="0" rtlCol="0" anchor="t"/>
          <a:lstStyle/>
          <a:p>
            <a:pPr indent="0" marL="0">
              <a:buNone/>
            </a:pPr>
            <a:r>
              <a:rPr lang="en-US" sz="1500" dirty="0">
                <a:solidFill>
                  <a:srgbClr val="6B625C"/>
                </a:solidFill>
                <a:latin typeface="Calibri" pitchFamily="34" charset="0"/>
                <a:ea typeface="Calibri" pitchFamily="34" charset="-122"/>
                <a:cs typeface="Calibri" pitchFamily="34" charset="-120"/>
              </a:rPr>
              <a:t>Turn the biggest uncertainties into checks we pass before, and soon after, opening</a:t>
            </a:r>
            <a:endParaRPr lang="en-US" sz="1500" dirty="0"/>
          </a:p>
        </p:txBody>
      </p:sp>
      <p:sp>
        <p:nvSpPr>
          <p:cNvPr id="4" name="Shape 2"/>
          <p:cNvSpPr/>
          <p:nvPr/>
        </p:nvSpPr>
        <p:spPr>
          <a:xfrm>
            <a:off x="457200" y="1600200"/>
            <a:ext cx="3566160" cy="2057400"/>
          </a:xfrm>
          <a:prstGeom prst="roundRect">
            <a:avLst>
              <a:gd name="adj" fmla="val 3556"/>
            </a:avLst>
          </a:prstGeom>
          <a:solidFill>
            <a:srgbClr val="F4EFEA"/>
          </a:solidFill>
          <a:ln/>
        </p:spPr>
      </p:sp>
      <p:sp>
        <p:nvSpPr>
          <p:cNvPr id="5" name="Shape 3"/>
          <p:cNvSpPr/>
          <p:nvPr/>
        </p:nvSpPr>
        <p:spPr>
          <a:xfrm>
            <a:off x="685800" y="1828800"/>
            <a:ext cx="548640" cy="548640"/>
          </a:xfrm>
          <a:prstGeom prst="ellipse">
            <a:avLst/>
          </a:prstGeom>
          <a:solidFill>
            <a:srgbClr val="2B1B14"/>
          </a:solidFill>
          <a:ln/>
        </p:spPr>
      </p:sp>
      <p:sp>
        <p:nvSpPr>
          <p:cNvPr id="6" name="Text 4"/>
          <p:cNvSpPr txBox="1"/>
          <p:nvPr/>
        </p:nvSpPr>
        <p:spPr>
          <a:xfrm>
            <a:off x="685800" y="1828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71600" y="1828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Firm up rent and capex</a:t>
            </a:r>
            <a:endParaRPr lang="en-US" sz="1600" dirty="0"/>
          </a:p>
        </p:txBody>
      </p:sp>
      <p:sp>
        <p:nvSpPr>
          <p:cNvPr id="8" name="Text 6"/>
          <p:cNvSpPr txBox="1"/>
          <p:nvPr/>
        </p:nvSpPr>
        <p:spPr>
          <a:xfrm>
            <a:off x="685800" y="2514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Rent at or below ₹90/sq ft; equipment, furniture, fit-out and POS within ₹18.3 lakh.</a:t>
            </a:r>
            <a:endParaRPr lang="en-US" sz="1600" dirty="0"/>
          </a:p>
        </p:txBody>
      </p:sp>
      <p:sp>
        <p:nvSpPr>
          <p:cNvPr id="9" name="Shape 7"/>
          <p:cNvSpPr/>
          <p:nvPr/>
        </p:nvSpPr>
        <p:spPr>
          <a:xfrm>
            <a:off x="4279392" y="1600200"/>
            <a:ext cx="3566160" cy="2057400"/>
          </a:xfrm>
          <a:prstGeom prst="roundRect">
            <a:avLst>
              <a:gd name="adj" fmla="val 3556"/>
            </a:avLst>
          </a:prstGeom>
          <a:solidFill>
            <a:srgbClr val="F4EFEA"/>
          </a:solidFill>
          <a:ln/>
        </p:spPr>
      </p:sp>
      <p:sp>
        <p:nvSpPr>
          <p:cNvPr id="10" name="Shape 8"/>
          <p:cNvSpPr/>
          <p:nvPr/>
        </p:nvSpPr>
        <p:spPr>
          <a:xfrm>
            <a:off x="4507992" y="1828800"/>
            <a:ext cx="548640" cy="548640"/>
          </a:xfrm>
          <a:prstGeom prst="ellipse">
            <a:avLst/>
          </a:prstGeom>
          <a:solidFill>
            <a:srgbClr val="2B1B14"/>
          </a:solidFill>
          <a:ln/>
        </p:spPr>
      </p:sp>
      <p:sp>
        <p:nvSpPr>
          <p:cNvPr id="11" name="Text 9"/>
          <p:cNvSpPr txBox="1"/>
          <p:nvPr/>
        </p:nvSpPr>
        <p:spPr>
          <a:xfrm>
            <a:off x="4507992" y="1828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5193792" y="1828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Confirm the average bill</a:t>
            </a:r>
            <a:endParaRPr lang="en-US" sz="1600" dirty="0"/>
          </a:p>
        </p:txBody>
      </p:sp>
      <p:sp>
        <p:nvSpPr>
          <p:cNvPr id="13" name="Text 11"/>
          <p:cNvSpPr txBox="1"/>
          <p:nvPr/>
        </p:nvSpPr>
        <p:spPr>
          <a:xfrm>
            <a:off x="4507992" y="2514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Local competitor menus support at least ₹160 before GST.</a:t>
            </a:r>
            <a:endParaRPr lang="en-US" sz="1600" dirty="0"/>
          </a:p>
        </p:txBody>
      </p:sp>
      <p:sp>
        <p:nvSpPr>
          <p:cNvPr id="14" name="Shape 12"/>
          <p:cNvSpPr/>
          <p:nvPr/>
        </p:nvSpPr>
        <p:spPr>
          <a:xfrm>
            <a:off x="8101584" y="1600200"/>
            <a:ext cx="3566160" cy="2057400"/>
          </a:xfrm>
          <a:prstGeom prst="roundRect">
            <a:avLst>
              <a:gd name="adj" fmla="val 3556"/>
            </a:avLst>
          </a:prstGeom>
          <a:solidFill>
            <a:srgbClr val="F4EFEA"/>
          </a:solidFill>
          <a:ln/>
        </p:spPr>
      </p:sp>
      <p:sp>
        <p:nvSpPr>
          <p:cNvPr id="15" name="Shape 13"/>
          <p:cNvSpPr/>
          <p:nvPr/>
        </p:nvSpPr>
        <p:spPr>
          <a:xfrm>
            <a:off x="8330184" y="1828800"/>
            <a:ext cx="548640" cy="548640"/>
          </a:xfrm>
          <a:prstGeom prst="ellipse">
            <a:avLst/>
          </a:prstGeom>
          <a:solidFill>
            <a:srgbClr val="2B1B14"/>
          </a:solidFill>
          <a:ln/>
        </p:spPr>
      </p:sp>
      <p:sp>
        <p:nvSpPr>
          <p:cNvPr id="16" name="Text 14"/>
          <p:cNvSpPr txBox="1"/>
          <p:nvPr/>
        </p:nvSpPr>
        <p:spPr>
          <a:xfrm>
            <a:off x="8330184" y="1828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9015984" y="1828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Validate demand first</a:t>
            </a:r>
            <a:endParaRPr lang="en-US" sz="1600" dirty="0"/>
          </a:p>
        </p:txBody>
      </p:sp>
      <p:sp>
        <p:nvSpPr>
          <p:cNvPr id="18" name="Text 16"/>
          <p:cNvSpPr txBox="1"/>
          <p:nvPr/>
        </p:nvSpPr>
        <p:spPr>
          <a:xfrm>
            <a:off x="8330184" y="2514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Footfall evidence of 75+ customers a day before full fit-out.</a:t>
            </a:r>
            <a:endParaRPr lang="en-US" sz="1600" dirty="0"/>
          </a:p>
        </p:txBody>
      </p:sp>
      <p:sp>
        <p:nvSpPr>
          <p:cNvPr id="19" name="Shape 17"/>
          <p:cNvSpPr/>
          <p:nvPr/>
        </p:nvSpPr>
        <p:spPr>
          <a:xfrm>
            <a:off x="457200" y="3886200"/>
            <a:ext cx="3566160" cy="2057400"/>
          </a:xfrm>
          <a:prstGeom prst="roundRect">
            <a:avLst>
              <a:gd name="adj" fmla="val 3556"/>
            </a:avLst>
          </a:prstGeom>
          <a:solidFill>
            <a:srgbClr val="F4EFEA"/>
          </a:solidFill>
          <a:ln/>
        </p:spPr>
      </p:sp>
      <p:sp>
        <p:nvSpPr>
          <p:cNvPr id="20" name="Shape 18"/>
          <p:cNvSpPr/>
          <p:nvPr/>
        </p:nvSpPr>
        <p:spPr>
          <a:xfrm>
            <a:off x="685800" y="4114800"/>
            <a:ext cx="548640" cy="548640"/>
          </a:xfrm>
          <a:prstGeom prst="ellipse">
            <a:avLst/>
          </a:prstGeom>
          <a:solidFill>
            <a:srgbClr val="2B1B14"/>
          </a:solidFill>
          <a:ln/>
        </p:spPr>
      </p:sp>
      <p:sp>
        <p:nvSpPr>
          <p:cNvPr id="21" name="Text 19"/>
          <p:cNvSpPr txBox="1"/>
          <p:nvPr/>
        </p:nvSpPr>
        <p:spPr>
          <a:xfrm>
            <a:off x="685800" y="4114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1371600" y="4114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Control early costs</a:t>
            </a:r>
            <a:endParaRPr lang="en-US" sz="1600" dirty="0"/>
          </a:p>
        </p:txBody>
      </p:sp>
      <p:sp>
        <p:nvSpPr>
          <p:cNvPr id="23" name="Text 21"/>
          <p:cNvSpPr txBox="1"/>
          <p:nvPr/>
        </p:nvSpPr>
        <p:spPr>
          <a:xfrm>
            <a:off x="685800" y="4800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Hold staff at five; negotiate a rent-free fit-out period or capped escalation.</a:t>
            </a:r>
            <a:endParaRPr lang="en-US" sz="1600" dirty="0"/>
          </a:p>
        </p:txBody>
      </p:sp>
      <p:sp>
        <p:nvSpPr>
          <p:cNvPr id="24" name="Shape 22"/>
          <p:cNvSpPr/>
          <p:nvPr/>
        </p:nvSpPr>
        <p:spPr>
          <a:xfrm>
            <a:off x="4279392" y="3886200"/>
            <a:ext cx="3566160" cy="2057400"/>
          </a:xfrm>
          <a:prstGeom prst="roundRect">
            <a:avLst>
              <a:gd name="adj" fmla="val 3556"/>
            </a:avLst>
          </a:prstGeom>
          <a:solidFill>
            <a:srgbClr val="F4EFEA"/>
          </a:solidFill>
          <a:ln/>
        </p:spPr>
      </p:sp>
      <p:sp>
        <p:nvSpPr>
          <p:cNvPr id="25" name="Shape 23"/>
          <p:cNvSpPr/>
          <p:nvPr/>
        </p:nvSpPr>
        <p:spPr>
          <a:xfrm>
            <a:off x="4507992" y="4114800"/>
            <a:ext cx="548640" cy="548640"/>
          </a:xfrm>
          <a:prstGeom prst="ellipse">
            <a:avLst/>
          </a:prstGeom>
          <a:solidFill>
            <a:srgbClr val="2B1B14"/>
          </a:solidFill>
          <a:ln/>
        </p:spPr>
      </p:sp>
      <p:sp>
        <p:nvSpPr>
          <p:cNvPr id="26" name="Text 24"/>
          <p:cNvSpPr txBox="1"/>
          <p:nvPr/>
        </p:nvSpPr>
        <p:spPr>
          <a:xfrm>
            <a:off x="4507992" y="4114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5193792" y="4114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Monitor after opening</a:t>
            </a:r>
            <a:endParaRPr lang="en-US" sz="1600" dirty="0"/>
          </a:p>
        </p:txBody>
      </p:sp>
      <p:sp>
        <p:nvSpPr>
          <p:cNvPr id="28" name="Text 26"/>
          <p:cNvSpPr txBox="1"/>
          <p:nvPr/>
        </p:nvSpPr>
        <p:spPr>
          <a:xfrm>
            <a:off x="4507992" y="4800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Formal review if customers stay below 73 a day for three months in a row.</a:t>
            </a:r>
            <a:endParaRPr lang="en-US" sz="1600" dirty="0"/>
          </a:p>
        </p:txBody>
      </p:sp>
      <p:sp>
        <p:nvSpPr>
          <p:cNvPr id="29" name="Shape 27"/>
          <p:cNvSpPr/>
          <p:nvPr/>
        </p:nvSpPr>
        <p:spPr>
          <a:xfrm>
            <a:off x="8101584" y="3886200"/>
            <a:ext cx="3566160" cy="2057400"/>
          </a:xfrm>
          <a:prstGeom prst="roundRect">
            <a:avLst>
              <a:gd name="adj" fmla="val 3556"/>
            </a:avLst>
          </a:prstGeom>
          <a:solidFill>
            <a:srgbClr val="F4EFEA"/>
          </a:solidFill>
          <a:ln/>
        </p:spPr>
      </p:sp>
      <p:sp>
        <p:nvSpPr>
          <p:cNvPr id="30" name="Shape 28"/>
          <p:cNvSpPr/>
          <p:nvPr/>
        </p:nvSpPr>
        <p:spPr>
          <a:xfrm>
            <a:off x="8330184" y="4114800"/>
            <a:ext cx="548640" cy="548640"/>
          </a:xfrm>
          <a:prstGeom prst="ellipse">
            <a:avLst/>
          </a:prstGeom>
          <a:solidFill>
            <a:srgbClr val="2B1B14"/>
          </a:solidFill>
          <a:ln/>
        </p:spPr>
      </p:sp>
      <p:sp>
        <p:nvSpPr>
          <p:cNvPr id="31" name="Text 29"/>
          <p:cNvSpPr txBox="1"/>
          <p:nvPr/>
        </p:nvSpPr>
        <p:spPr>
          <a:xfrm>
            <a:off x="8330184" y="4114800"/>
            <a:ext cx="548640" cy="548640"/>
          </a:xfrm>
          <a:prstGeom prst="rect">
            <a:avLst/>
          </a:prstGeom>
          <a:noFill/>
          <a:ln/>
        </p:spPr>
        <p:txBody>
          <a:bodyPr wrap="square" lIns="0" tIns="0" rIns="0" bIns="0" rtlCol="0" anchor="ctr"/>
          <a:lstStyle/>
          <a:p>
            <a:pPr algn="ctr" indent="0" marL="0">
              <a:buNone/>
            </a:pPr>
            <a:r>
              <a:rPr lang="en-US" sz="2000" b="1" dirty="0">
                <a:solidFill>
                  <a:srgbClr val="C8873A"/>
                </a:solidFill>
                <a:latin typeface="Cambria" pitchFamily="34" charset="0"/>
                <a:ea typeface="Cambria" pitchFamily="34" charset="-122"/>
                <a:cs typeface="Cambria" pitchFamily="34" charset="-120"/>
              </a:rPr>
              <a:t>6</a:t>
            </a:r>
            <a:endParaRPr lang="en-US" sz="2000" dirty="0"/>
          </a:p>
        </p:txBody>
      </p:sp>
      <p:sp>
        <p:nvSpPr>
          <p:cNvPr id="32" name="Text 30"/>
          <p:cNvSpPr txBox="1"/>
          <p:nvPr/>
        </p:nvSpPr>
        <p:spPr>
          <a:xfrm>
            <a:off x="9015984" y="4114800"/>
            <a:ext cx="2514600" cy="548640"/>
          </a:xfrm>
          <a:prstGeom prst="rect">
            <a:avLst/>
          </a:prstGeom>
          <a:noFill/>
          <a:ln/>
        </p:spPr>
        <p:txBody>
          <a:bodyPr wrap="square" lIns="0" tIns="0" rIns="0" bIns="0" rtlCol="0" anchor="ctr"/>
          <a:lstStyle/>
          <a:p>
            <a:pPr indent="0" marL="0">
              <a:buNone/>
            </a:pPr>
            <a:r>
              <a:rPr lang="en-US" sz="1600" b="1" dirty="0">
                <a:solidFill>
                  <a:srgbClr val="2B1B14"/>
                </a:solidFill>
                <a:latin typeface="Cambria" pitchFamily="34" charset="0"/>
                <a:ea typeface="Cambria" pitchFamily="34" charset="-122"/>
                <a:cs typeface="Cambria" pitchFamily="34" charset="-120"/>
              </a:rPr>
              <a:t>Pursue upside levers</a:t>
            </a:r>
            <a:endParaRPr lang="en-US" sz="1600" dirty="0"/>
          </a:p>
        </p:txBody>
      </p:sp>
      <p:sp>
        <p:nvSpPr>
          <p:cNvPr id="33" name="Text 31"/>
          <p:cNvSpPr txBox="1"/>
          <p:nvPr/>
        </p:nvSpPr>
        <p:spPr>
          <a:xfrm>
            <a:off x="8330184" y="4800600"/>
            <a:ext cx="3154680" cy="1051560"/>
          </a:xfrm>
          <a:prstGeom prst="rect">
            <a:avLst/>
          </a:prstGeom>
          <a:noFill/>
          <a:ln/>
        </p:spPr>
        <p:txBody>
          <a:bodyPr wrap="square" lIns="0" tIns="0" rIns="0" bIns="0" rtlCol="0" anchor="t"/>
          <a:lstStyle/>
          <a:p>
            <a:pPr indent="0" marL="0">
              <a:buNone/>
            </a:pPr>
            <a:r>
              <a:rPr lang="en-US" sz="1600" dirty="0">
                <a:solidFill>
                  <a:srgbClr val="1F1A17"/>
                </a:solidFill>
                <a:latin typeface="Calibri" pitchFamily="34" charset="0"/>
                <a:ea typeface="Calibri" pitchFamily="34" charset="-122"/>
                <a:cs typeface="Calibri" pitchFamily="34" charset="-120"/>
              </a:rPr>
              <a:t>Seek MSME or start-up support; test a higher-margin menu mix.</a:t>
            </a:r>
            <a:endParaRPr lang="en-US" sz="1600" dirty="0"/>
          </a:p>
        </p:txBody>
      </p:sp>
      <p:sp>
        <p:nvSpPr>
          <p:cNvPr id="34" name="Text 32"/>
          <p:cNvSpPr txBox="1"/>
          <p:nvPr/>
        </p:nvSpPr>
        <p:spPr>
          <a:xfrm>
            <a:off x="457200" y="6400800"/>
            <a:ext cx="8229600" cy="274320"/>
          </a:xfrm>
          <a:prstGeom prst="rect">
            <a:avLst/>
          </a:prstGeom>
          <a:noFill/>
          <a:ln/>
        </p:spPr>
        <p:txBody>
          <a:bodyPr wrap="square" lIns="0" tIns="0" rIns="0" bIns="0" rtlCol="0" anchor="ctr"/>
          <a:lstStyle/>
          <a:p>
            <a:pPr indent="0" marL="0">
              <a:buNone/>
            </a:pPr>
            <a:r>
              <a:rPr lang="en-US" sz="1000" i="1" dirty="0">
                <a:solidFill>
                  <a:srgbClr val="6B625C"/>
                </a:solidFill>
                <a:latin typeface="Calibri" pitchFamily="34" charset="0"/>
                <a:ea typeface="Calibri" pitchFamily="34" charset="-122"/>
                <a:cs typeface="Calibri" pitchFamily="34" charset="-120"/>
              </a:rPr>
              <a:t>Derived from 16_Appraisal, 17_Break_Even and 19_Sensitivity</a:t>
            </a:r>
            <a:endParaRPr lang="en-US" sz="1000" dirty="0"/>
          </a:p>
        </p:txBody>
      </p:sp>
      <p:sp>
        <p:nvSpPr>
          <p:cNvPr id="35" name="Text 33"/>
          <p:cNvSpPr txBox="1"/>
          <p:nvPr/>
        </p:nvSpPr>
        <p:spPr>
          <a:xfrm>
            <a:off x="8531352" y="6400800"/>
            <a:ext cx="3200400" cy="274320"/>
          </a:xfrm>
          <a:prstGeom prst="rect">
            <a:avLst/>
          </a:prstGeom>
          <a:noFill/>
          <a:ln/>
        </p:spPr>
        <p:txBody>
          <a:bodyPr wrap="square" lIns="0" tIns="0" rIns="0" bIns="0" rtlCol="0" anchor="ctr"/>
          <a:lstStyle/>
          <a:p>
            <a:pPr algn="r" indent="0" marL="0">
              <a:buNone/>
            </a:pPr>
            <a:r>
              <a:rPr lang="en-US" sz="1000" dirty="0">
                <a:solidFill>
                  <a:srgbClr val="6B625C"/>
                </a:solidFill>
                <a:latin typeface="Calibri" pitchFamily="34" charset="0"/>
                <a:ea typeface="Calibri" pitchFamily="34" charset="-122"/>
                <a:cs typeface="Calibri" pitchFamily="34" charset="-120"/>
              </a:rPr>
              <a:t>Harleen Kaur · FIN 545 · LPU</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1B1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41848" y="822960"/>
            <a:ext cx="914400" cy="914400"/>
          </a:xfrm>
          <a:prstGeom prst="rect">
            <a:avLst/>
          </a:prstGeom>
        </p:spPr>
      </p:pic>
      <p:sp>
        <p:nvSpPr>
          <p:cNvPr id="3" name="Text 0"/>
          <p:cNvSpPr txBox="1"/>
          <p:nvPr/>
        </p:nvSpPr>
        <p:spPr>
          <a:xfrm>
            <a:off x="457200" y="1920240"/>
            <a:ext cx="1127455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457200" y="2880360"/>
            <a:ext cx="11274552" cy="457200"/>
          </a:xfrm>
          <a:prstGeom prst="rect">
            <a:avLst/>
          </a:prstGeom>
          <a:noFill/>
          <a:ln/>
        </p:spPr>
        <p:txBody>
          <a:bodyPr wrap="square" lIns="0" tIns="0" rIns="0" bIns="0" rtlCol="0" anchor="ctr"/>
          <a:lstStyle/>
          <a:p>
            <a:pPr algn="ctr" indent="0" marL="0">
              <a:buNone/>
            </a:pPr>
            <a:r>
              <a:rPr lang="en-US" sz="1700" dirty="0">
                <a:solidFill>
                  <a:srgbClr val="E8DED5"/>
                </a:solidFill>
                <a:latin typeface="Calibri" pitchFamily="34" charset="0"/>
                <a:ea typeface="Calibri" pitchFamily="34" charset="-122"/>
                <a:cs typeface="Calibri" pitchFamily="34" charset="-120"/>
              </a:rPr>
              <a:t>Campus Brew Café · Invest with Conditions · NPV ₹2.03 lakh · IRR 15.3% · Payback 4.1 years</a:t>
            </a:r>
            <a:endParaRPr lang="en-US" sz="1700" dirty="0"/>
          </a:p>
        </p:txBody>
      </p:sp>
      <p:sp>
        <p:nvSpPr>
          <p:cNvPr id="5" name="Text 2"/>
          <p:cNvSpPr txBox="1"/>
          <p:nvPr/>
        </p:nvSpPr>
        <p:spPr>
          <a:xfrm>
            <a:off x="457200" y="3611880"/>
            <a:ext cx="11274552" cy="411480"/>
          </a:xfrm>
          <a:prstGeom prst="rect">
            <a:avLst/>
          </a:prstGeom>
          <a:noFill/>
          <a:ln/>
        </p:spPr>
        <p:txBody>
          <a:bodyPr wrap="square" lIns="0" tIns="0" rIns="0" bIns="0" rtlCol="0" anchor="ctr"/>
          <a:lstStyle/>
          <a:p>
            <a:pPr algn="ctr" indent="0" marL="0">
              <a:buNone/>
            </a:pPr>
            <a:r>
              <a:rPr lang="en-US" sz="1800" b="1" dirty="0">
                <a:solidFill>
                  <a:srgbClr val="C8873A"/>
                </a:solidFill>
                <a:latin typeface="Calibri" pitchFamily="34" charset="0"/>
                <a:ea typeface="Calibri" pitchFamily="34" charset="-122"/>
                <a:cs typeface="Calibri" pitchFamily="34" charset="-120"/>
              </a:rPr>
              <a:t>Harleen Kaur · M.Com · Reg. No. 123514334</a:t>
            </a:r>
            <a:endParaRPr lang="en-US" sz="1800" dirty="0"/>
          </a:p>
        </p:txBody>
      </p:sp>
      <p:sp>
        <p:nvSpPr>
          <p:cNvPr id="6" name="Shape 3"/>
          <p:cNvSpPr/>
          <p:nvPr/>
        </p:nvSpPr>
        <p:spPr>
          <a:xfrm>
            <a:off x="1737360" y="4434840"/>
            <a:ext cx="8714232" cy="822960"/>
          </a:xfrm>
          <a:prstGeom prst="roundRect">
            <a:avLst>
              <a:gd name="adj" fmla="val 50000"/>
            </a:avLst>
          </a:prstGeom>
          <a:solidFill>
            <a:srgbClr val="5A3825"/>
          </a:solidFill>
          <a:ln/>
        </p:spPr>
      </p:sp>
      <p:sp>
        <p:nvSpPr>
          <p:cNvPr id="7" name="Text 4"/>
          <p:cNvSpPr txBox="1"/>
          <p:nvPr/>
        </p:nvSpPr>
        <p:spPr>
          <a:xfrm>
            <a:off x="1737360" y="4434840"/>
            <a:ext cx="8714232"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#LovelyProfessionalUniversity   #MSOB   #QD06FINANCE   #DrBasit</a:t>
            </a:r>
            <a:endParaRPr lang="en-US" sz="2000" dirty="0"/>
          </a:p>
        </p:txBody>
      </p:sp>
      <p:sp>
        <p:nvSpPr>
          <p:cNvPr id="8" name="Text 5"/>
          <p:cNvSpPr txBox="1"/>
          <p:nvPr/>
        </p:nvSpPr>
        <p:spPr>
          <a:xfrm>
            <a:off x="457200" y="5669280"/>
            <a:ext cx="11274552" cy="365760"/>
          </a:xfrm>
          <a:prstGeom prst="rect">
            <a:avLst/>
          </a:prstGeom>
          <a:noFill/>
          <a:ln/>
        </p:spPr>
        <p:txBody>
          <a:bodyPr wrap="square" lIns="0" tIns="0" rIns="0" bIns="0" rtlCol="0" anchor="ctr"/>
          <a:lstStyle/>
          <a:p>
            <a:pPr algn="ctr" indent="0" marL="0">
              <a:buNone/>
            </a:pPr>
            <a:r>
              <a:rPr lang="en-US" sz="1300" dirty="0">
                <a:solidFill>
                  <a:srgbClr val="BFAFA2"/>
                </a:solidFill>
                <a:latin typeface="Calibri" pitchFamily="34" charset="0"/>
                <a:ea typeface="Calibri" pitchFamily="34" charset="-122"/>
                <a:cs typeface="Calibri" pitchFamily="34" charset="-120"/>
              </a:rPr>
              <a:t>FIN 545 Workshop on Financial Modelling · Full model and report available on request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Brew Café: LinkedIn Investment Pitch</dc:title>
  <dc:subject>PptxGenJS Presentation</dc:subject>
  <dc:creator>Harleen Kaur</dc:creator>
  <cp:lastModifiedBy>Harleen Kaur</cp:lastModifiedBy>
  <cp:revision>1</cp:revision>
  <dcterms:created xsi:type="dcterms:W3CDTF">2026-10-01T09:18:51Z</dcterms:created>
  <dcterms:modified xsi:type="dcterms:W3CDTF">2026-10-01T09:18:51Z</dcterms:modified>
</cp:coreProperties>
</file>